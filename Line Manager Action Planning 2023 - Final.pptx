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5" r:id="rId17"/>
    <p:sldId id="276" r:id="rId18"/>
    <p:sldId id="271" r:id="rId19"/>
    <p:sldId id="272" r:id="rId20"/>
    <p:sldId id="273" r:id="rId21"/>
    <p:sldId id="274" r:id="rId2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0844" y="3331481"/>
            <a:ext cx="10370311" cy="160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28/02/2023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28/02/2023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28/02/2023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28/02/2023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28/02/2023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90065" y="182371"/>
            <a:ext cx="8611869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13763" y="1140078"/>
            <a:ext cx="9364472" cy="1763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28/02/2023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5.xml"/><Relationship Id="rId4" Type="http://schemas.openxmlformats.org/officeDocument/2006/relationships/slide" Target="slide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hyperlink" Target="https://www.qualtrics.com/blog/drive-accountability-action-employee-feedback/" TargetMode="Externa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402590" marR="5080" indent="-363220">
              <a:lnSpc>
                <a:spcPts val="6480"/>
              </a:lnSpc>
              <a:spcBef>
                <a:spcPts val="915"/>
              </a:spcBef>
            </a:pPr>
            <a:r>
              <a:rPr spc="-20" dirty="0"/>
              <a:t>GROWING </a:t>
            </a:r>
            <a:r>
              <a:rPr spc="-30" dirty="0"/>
              <a:t>TOGETHER</a:t>
            </a:r>
            <a:r>
              <a:rPr spc="-25" dirty="0"/>
              <a:t> </a:t>
            </a:r>
            <a:r>
              <a:rPr spc="-125" dirty="0"/>
              <a:t>SURVEY, </a:t>
            </a:r>
            <a:r>
              <a:rPr spc="-1345" dirty="0"/>
              <a:t> </a:t>
            </a:r>
            <a:r>
              <a:rPr dirty="0"/>
              <a:t>ACTION</a:t>
            </a:r>
            <a:r>
              <a:rPr spc="-35" dirty="0"/>
              <a:t> </a:t>
            </a:r>
            <a:r>
              <a:rPr spc="-5" dirty="0"/>
              <a:t>PLANNING-2022-23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7887" y="3602735"/>
            <a:ext cx="10963910" cy="2151871"/>
          </a:xfrm>
          <a:prstGeom prst="rect">
            <a:avLst/>
          </a:prstGeom>
          <a:solidFill>
            <a:srgbClr val="C5DFB4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00"/>
              </a:lnSpc>
            </a:pPr>
            <a:r>
              <a:rPr sz="2400" b="1" spc="-15" dirty="0">
                <a:latin typeface="Calibri"/>
                <a:cs typeface="Calibri"/>
              </a:rPr>
              <a:t>EMPLOYEE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ENGAGEMENT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ACTION</a:t>
            </a:r>
            <a:r>
              <a:rPr sz="2400" b="1" spc="-5" dirty="0">
                <a:latin typeface="Calibri"/>
                <a:cs typeface="Calibri"/>
              </a:rPr>
              <a:t> PLANNING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LINE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MANAGER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TOOLKIT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 dirty="0">
              <a:latin typeface="Calibri"/>
              <a:cs typeface="Calibri"/>
            </a:endParaRPr>
          </a:p>
          <a:p>
            <a:pPr marL="507365" marR="504190" algn="ctr">
              <a:lnSpc>
                <a:spcPts val="2590"/>
              </a:lnSpc>
              <a:spcBef>
                <a:spcPts val="1710"/>
              </a:spcBef>
            </a:pPr>
            <a:r>
              <a:rPr sz="2400" i="1" spc="-45" dirty="0">
                <a:latin typeface="Calibri"/>
                <a:cs typeface="Calibri"/>
              </a:rPr>
              <a:t>Tools</a:t>
            </a:r>
            <a:r>
              <a:rPr sz="2400" i="1" spc="1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and</a:t>
            </a:r>
            <a:r>
              <a:rPr sz="2400" i="1" spc="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resources</a:t>
            </a:r>
            <a:r>
              <a:rPr sz="2400" i="1" spc="10" dirty="0">
                <a:latin typeface="Calibri"/>
                <a:cs typeface="Calibri"/>
              </a:rPr>
              <a:t> </a:t>
            </a:r>
            <a:r>
              <a:rPr sz="2400" i="1" spc="-15" dirty="0">
                <a:latin typeface="Calibri"/>
                <a:cs typeface="Calibri"/>
              </a:rPr>
              <a:t>for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discussing</a:t>
            </a:r>
            <a:r>
              <a:rPr sz="2400" i="1" spc="2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employee</a:t>
            </a:r>
            <a:r>
              <a:rPr sz="2400" i="1" spc="1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engagement</a:t>
            </a:r>
            <a:r>
              <a:rPr sz="2400" i="1" spc="1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results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and</a:t>
            </a:r>
            <a:r>
              <a:rPr sz="2400" i="1" spc="1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creating an </a:t>
            </a:r>
            <a:r>
              <a:rPr sz="2400" i="1" spc="-53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employee</a:t>
            </a:r>
            <a:r>
              <a:rPr sz="2400" i="1" spc="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centric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and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employee</a:t>
            </a:r>
            <a:r>
              <a:rPr sz="2400" i="1" spc="1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generated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i="1" spc="-5">
                <a:latin typeface="Calibri"/>
                <a:cs typeface="Calibri"/>
              </a:rPr>
              <a:t>action</a:t>
            </a:r>
            <a:r>
              <a:rPr sz="2400" i="1">
                <a:latin typeface="Calibri"/>
                <a:cs typeface="Calibri"/>
              </a:rPr>
              <a:t> </a:t>
            </a:r>
            <a:r>
              <a:rPr sz="2400" i="1" spc="-5">
                <a:latin typeface="Calibri"/>
                <a:cs typeface="Calibri"/>
              </a:rPr>
              <a:t>p</a:t>
            </a:r>
            <a:r>
              <a:rPr lang="en-US" sz="2400" i="1" spc="-5">
                <a:latin typeface="Calibri"/>
                <a:cs typeface="Calibri"/>
              </a:rPr>
              <a:t>l</a:t>
            </a:r>
            <a:r>
              <a:rPr sz="2400" i="1" spc="-5">
                <a:latin typeface="Calibri"/>
                <a:cs typeface="Calibri"/>
              </a:rPr>
              <a:t>an</a:t>
            </a:r>
            <a:r>
              <a:rPr sz="2400" i="1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for</a:t>
            </a:r>
            <a:r>
              <a:rPr sz="2400" i="1" spc="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improvement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5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79152" y="123444"/>
            <a:ext cx="1988820" cy="5059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3523" y="164972"/>
            <a:ext cx="4944745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554480" marR="5080" indent="-1542415">
              <a:lnSpc>
                <a:spcPts val="1939"/>
              </a:lnSpc>
              <a:spcBef>
                <a:spcPts val="345"/>
              </a:spcBef>
            </a:pPr>
            <a:r>
              <a:rPr sz="1800" spc="-30" dirty="0"/>
              <a:t>EMPLOYEE</a:t>
            </a:r>
            <a:r>
              <a:rPr sz="1800" spc="-55" dirty="0"/>
              <a:t> </a:t>
            </a:r>
            <a:r>
              <a:rPr sz="1800" spc="-20" dirty="0"/>
              <a:t>ENGAGEMENT</a:t>
            </a:r>
            <a:r>
              <a:rPr sz="1800" spc="-70" dirty="0"/>
              <a:t> </a:t>
            </a:r>
            <a:r>
              <a:rPr sz="1800" spc="-10" dirty="0"/>
              <a:t>ACTION</a:t>
            </a:r>
            <a:r>
              <a:rPr sz="1800" spc="-70" dirty="0"/>
              <a:t> </a:t>
            </a:r>
            <a:r>
              <a:rPr sz="1800" spc="-15" dirty="0"/>
              <a:t>PLANNING</a:t>
            </a:r>
            <a:r>
              <a:rPr sz="1800" spc="-65" dirty="0"/>
              <a:t> </a:t>
            </a:r>
            <a:r>
              <a:rPr sz="1800" spc="-25" dirty="0"/>
              <a:t>TOOLKIT </a:t>
            </a:r>
            <a:r>
              <a:rPr sz="1800" spc="-395" dirty="0"/>
              <a:t> </a:t>
            </a:r>
            <a:r>
              <a:rPr sz="1800" spc="-20" dirty="0"/>
              <a:t>PROCESS</a:t>
            </a:r>
            <a:r>
              <a:rPr sz="1800" spc="-65" dirty="0"/>
              <a:t> </a:t>
            </a:r>
            <a:r>
              <a:rPr sz="1800" spc="-20" dirty="0"/>
              <a:t>SUMMARY</a:t>
            </a:r>
            <a:endParaRPr sz="1800"/>
          </a:p>
        </p:txBody>
      </p:sp>
      <p:sp>
        <p:nvSpPr>
          <p:cNvPr id="3" name="object 3"/>
          <p:cNvSpPr/>
          <p:nvPr/>
        </p:nvSpPr>
        <p:spPr>
          <a:xfrm>
            <a:off x="172212" y="838200"/>
            <a:ext cx="11753215" cy="5654040"/>
          </a:xfrm>
          <a:custGeom>
            <a:avLst/>
            <a:gdLst/>
            <a:ahLst/>
            <a:cxnLst/>
            <a:rect l="l" t="t" r="r" b="b"/>
            <a:pathLst>
              <a:path w="11753215" h="5654040">
                <a:moveTo>
                  <a:pt x="11753088" y="0"/>
                </a:moveTo>
                <a:lnTo>
                  <a:pt x="0" y="0"/>
                </a:lnTo>
                <a:lnTo>
                  <a:pt x="0" y="5654040"/>
                </a:lnTo>
                <a:lnTo>
                  <a:pt x="11753088" y="5654040"/>
                </a:lnTo>
                <a:lnTo>
                  <a:pt x="1175308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0342" y="728218"/>
            <a:ext cx="11255375" cy="139636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800" spc="-5" dirty="0">
                <a:latin typeface="Calibri"/>
                <a:cs typeface="Calibri"/>
              </a:rPr>
              <a:t>This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toolkit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designed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help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integrate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priorities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initiatives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and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team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will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working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50"/>
              </a:lnSpc>
              <a:spcBef>
                <a:spcPts val="790"/>
              </a:spcBef>
            </a:pP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goal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leverage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employees’ engagement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create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employee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centric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workplace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focusses 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employee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50"/>
              </a:lnSpc>
            </a:pPr>
            <a:r>
              <a:rPr sz="1800" spc="-10" dirty="0">
                <a:latin typeface="Calibri"/>
                <a:cs typeface="Calibri"/>
              </a:rPr>
              <a:t>feedback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15" dirty="0">
                <a:latin typeface="Calibri"/>
                <a:cs typeface="Calibri"/>
              </a:rPr>
              <a:t>create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great</a:t>
            </a:r>
            <a:r>
              <a:rPr sz="1800" spc="-5" dirty="0">
                <a:latin typeface="Calibri"/>
                <a:cs typeface="Calibri"/>
              </a:rPr>
              <a:t> workplace.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800" dirty="0">
                <a:latin typeface="Calibri"/>
                <a:cs typeface="Calibri"/>
              </a:rPr>
              <a:t>A simple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timeline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detailed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below.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Please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work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team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complete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action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plans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within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next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25" dirty="0">
                <a:latin typeface="Calibri"/>
                <a:cs typeface="Calibri"/>
              </a:rPr>
              <a:t>4-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weeks.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4798" y="1990344"/>
            <a:ext cx="11122660" cy="4867910"/>
            <a:chOff x="34798" y="1990344"/>
            <a:chExt cx="11122660" cy="4867910"/>
          </a:xfrm>
        </p:grpSpPr>
        <p:sp>
          <p:nvSpPr>
            <p:cNvPr id="6" name="object 6"/>
            <p:cNvSpPr/>
            <p:nvPr/>
          </p:nvSpPr>
          <p:spPr>
            <a:xfrm>
              <a:off x="940308" y="1990344"/>
              <a:ext cx="10217150" cy="4867910"/>
            </a:xfrm>
            <a:custGeom>
              <a:avLst/>
              <a:gdLst/>
              <a:ahLst/>
              <a:cxnLst/>
              <a:rect l="l" t="t" r="r" b="b"/>
              <a:pathLst>
                <a:path w="10217150" h="4867909">
                  <a:moveTo>
                    <a:pt x="7783068" y="0"/>
                  </a:moveTo>
                  <a:lnTo>
                    <a:pt x="7783068" y="1216914"/>
                  </a:lnTo>
                  <a:lnTo>
                    <a:pt x="0" y="1216914"/>
                  </a:lnTo>
                  <a:lnTo>
                    <a:pt x="0" y="3650741"/>
                  </a:lnTo>
                  <a:lnTo>
                    <a:pt x="7783068" y="3650741"/>
                  </a:lnTo>
                  <a:lnTo>
                    <a:pt x="7783068" y="4867655"/>
                  </a:lnTo>
                  <a:lnTo>
                    <a:pt x="10216896" y="2433828"/>
                  </a:lnTo>
                  <a:lnTo>
                    <a:pt x="7783068" y="0"/>
                  </a:lnTo>
                  <a:close/>
                </a:path>
              </a:pathLst>
            </a:custGeom>
            <a:solidFill>
              <a:srgbClr val="CFD4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148" y="3291840"/>
              <a:ext cx="2120265" cy="2266315"/>
            </a:xfrm>
            <a:custGeom>
              <a:avLst/>
              <a:gdLst/>
              <a:ahLst/>
              <a:cxnLst/>
              <a:rect l="l" t="t" r="r" b="b"/>
              <a:pathLst>
                <a:path w="2120265" h="2266315">
                  <a:moveTo>
                    <a:pt x="1766570" y="0"/>
                  </a:moveTo>
                  <a:lnTo>
                    <a:pt x="353326" y="0"/>
                  </a:lnTo>
                  <a:lnTo>
                    <a:pt x="305382" y="3226"/>
                  </a:lnTo>
                  <a:lnTo>
                    <a:pt x="259398" y="12624"/>
                  </a:lnTo>
                  <a:lnTo>
                    <a:pt x="215796" y="27773"/>
                  </a:lnTo>
                  <a:lnTo>
                    <a:pt x="174996" y="48250"/>
                  </a:lnTo>
                  <a:lnTo>
                    <a:pt x="137419" y="73635"/>
                  </a:lnTo>
                  <a:lnTo>
                    <a:pt x="103487" y="103505"/>
                  </a:lnTo>
                  <a:lnTo>
                    <a:pt x="73620" y="137438"/>
                  </a:lnTo>
                  <a:lnTo>
                    <a:pt x="48239" y="175015"/>
                  </a:lnTo>
                  <a:lnTo>
                    <a:pt x="27766" y="215812"/>
                  </a:lnTo>
                  <a:lnTo>
                    <a:pt x="12621" y="259409"/>
                  </a:lnTo>
                  <a:lnTo>
                    <a:pt x="3225" y="305383"/>
                  </a:lnTo>
                  <a:lnTo>
                    <a:pt x="0" y="353314"/>
                  </a:lnTo>
                  <a:lnTo>
                    <a:pt x="0" y="1912874"/>
                  </a:lnTo>
                  <a:lnTo>
                    <a:pt x="3225" y="1960804"/>
                  </a:lnTo>
                  <a:lnTo>
                    <a:pt x="12621" y="2006778"/>
                  </a:lnTo>
                  <a:lnTo>
                    <a:pt x="27766" y="2050375"/>
                  </a:lnTo>
                  <a:lnTo>
                    <a:pt x="48239" y="2091172"/>
                  </a:lnTo>
                  <a:lnTo>
                    <a:pt x="73620" y="2128749"/>
                  </a:lnTo>
                  <a:lnTo>
                    <a:pt x="103487" y="2162683"/>
                  </a:lnTo>
                  <a:lnTo>
                    <a:pt x="137419" y="2192552"/>
                  </a:lnTo>
                  <a:lnTo>
                    <a:pt x="174996" y="2217937"/>
                  </a:lnTo>
                  <a:lnTo>
                    <a:pt x="215796" y="2238414"/>
                  </a:lnTo>
                  <a:lnTo>
                    <a:pt x="259398" y="2253563"/>
                  </a:lnTo>
                  <a:lnTo>
                    <a:pt x="305382" y="2262961"/>
                  </a:lnTo>
                  <a:lnTo>
                    <a:pt x="353326" y="2266188"/>
                  </a:lnTo>
                  <a:lnTo>
                    <a:pt x="1766570" y="2266188"/>
                  </a:lnTo>
                  <a:lnTo>
                    <a:pt x="1814500" y="2262961"/>
                  </a:lnTo>
                  <a:lnTo>
                    <a:pt x="1860474" y="2253563"/>
                  </a:lnTo>
                  <a:lnTo>
                    <a:pt x="1904071" y="2238414"/>
                  </a:lnTo>
                  <a:lnTo>
                    <a:pt x="1944868" y="2217937"/>
                  </a:lnTo>
                  <a:lnTo>
                    <a:pt x="1982445" y="2192552"/>
                  </a:lnTo>
                  <a:lnTo>
                    <a:pt x="2016378" y="2162683"/>
                  </a:lnTo>
                  <a:lnTo>
                    <a:pt x="2046248" y="2128749"/>
                  </a:lnTo>
                  <a:lnTo>
                    <a:pt x="2071633" y="2091172"/>
                  </a:lnTo>
                  <a:lnTo>
                    <a:pt x="2092110" y="2050375"/>
                  </a:lnTo>
                  <a:lnTo>
                    <a:pt x="2107259" y="2006778"/>
                  </a:lnTo>
                  <a:lnTo>
                    <a:pt x="2116657" y="1960804"/>
                  </a:lnTo>
                  <a:lnTo>
                    <a:pt x="2119884" y="1912874"/>
                  </a:lnTo>
                  <a:lnTo>
                    <a:pt x="2119884" y="353314"/>
                  </a:lnTo>
                  <a:lnTo>
                    <a:pt x="2116657" y="305383"/>
                  </a:lnTo>
                  <a:lnTo>
                    <a:pt x="2107259" y="259409"/>
                  </a:lnTo>
                  <a:lnTo>
                    <a:pt x="2092110" y="215812"/>
                  </a:lnTo>
                  <a:lnTo>
                    <a:pt x="2071633" y="175015"/>
                  </a:lnTo>
                  <a:lnTo>
                    <a:pt x="2046248" y="137438"/>
                  </a:lnTo>
                  <a:lnTo>
                    <a:pt x="2016378" y="103505"/>
                  </a:lnTo>
                  <a:lnTo>
                    <a:pt x="1982445" y="73635"/>
                  </a:lnTo>
                  <a:lnTo>
                    <a:pt x="1944868" y="48250"/>
                  </a:lnTo>
                  <a:lnTo>
                    <a:pt x="1904071" y="27773"/>
                  </a:lnTo>
                  <a:lnTo>
                    <a:pt x="1860474" y="12624"/>
                  </a:lnTo>
                  <a:lnTo>
                    <a:pt x="1814500" y="3226"/>
                  </a:lnTo>
                  <a:lnTo>
                    <a:pt x="176657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8" y="3291840"/>
              <a:ext cx="2120265" cy="2266315"/>
            </a:xfrm>
            <a:custGeom>
              <a:avLst/>
              <a:gdLst/>
              <a:ahLst/>
              <a:cxnLst/>
              <a:rect l="l" t="t" r="r" b="b"/>
              <a:pathLst>
                <a:path w="2120265" h="2266315">
                  <a:moveTo>
                    <a:pt x="0" y="353314"/>
                  </a:moveTo>
                  <a:lnTo>
                    <a:pt x="3225" y="305383"/>
                  </a:lnTo>
                  <a:lnTo>
                    <a:pt x="12621" y="259409"/>
                  </a:lnTo>
                  <a:lnTo>
                    <a:pt x="27766" y="215812"/>
                  </a:lnTo>
                  <a:lnTo>
                    <a:pt x="48239" y="175015"/>
                  </a:lnTo>
                  <a:lnTo>
                    <a:pt x="73620" y="137438"/>
                  </a:lnTo>
                  <a:lnTo>
                    <a:pt x="103487" y="103505"/>
                  </a:lnTo>
                  <a:lnTo>
                    <a:pt x="137419" y="73635"/>
                  </a:lnTo>
                  <a:lnTo>
                    <a:pt x="174996" y="48250"/>
                  </a:lnTo>
                  <a:lnTo>
                    <a:pt x="215796" y="27773"/>
                  </a:lnTo>
                  <a:lnTo>
                    <a:pt x="259398" y="12624"/>
                  </a:lnTo>
                  <a:lnTo>
                    <a:pt x="305382" y="3226"/>
                  </a:lnTo>
                  <a:lnTo>
                    <a:pt x="353326" y="0"/>
                  </a:lnTo>
                  <a:lnTo>
                    <a:pt x="1766570" y="0"/>
                  </a:lnTo>
                  <a:lnTo>
                    <a:pt x="1814500" y="3226"/>
                  </a:lnTo>
                  <a:lnTo>
                    <a:pt x="1860474" y="12624"/>
                  </a:lnTo>
                  <a:lnTo>
                    <a:pt x="1904071" y="27773"/>
                  </a:lnTo>
                  <a:lnTo>
                    <a:pt x="1944868" y="48250"/>
                  </a:lnTo>
                  <a:lnTo>
                    <a:pt x="1982445" y="73635"/>
                  </a:lnTo>
                  <a:lnTo>
                    <a:pt x="2016378" y="103505"/>
                  </a:lnTo>
                  <a:lnTo>
                    <a:pt x="2046248" y="137438"/>
                  </a:lnTo>
                  <a:lnTo>
                    <a:pt x="2071633" y="175015"/>
                  </a:lnTo>
                  <a:lnTo>
                    <a:pt x="2092110" y="215812"/>
                  </a:lnTo>
                  <a:lnTo>
                    <a:pt x="2107259" y="259409"/>
                  </a:lnTo>
                  <a:lnTo>
                    <a:pt x="2116657" y="305383"/>
                  </a:lnTo>
                  <a:lnTo>
                    <a:pt x="2119884" y="353314"/>
                  </a:lnTo>
                  <a:lnTo>
                    <a:pt x="2119884" y="1912874"/>
                  </a:lnTo>
                  <a:lnTo>
                    <a:pt x="2116657" y="1960804"/>
                  </a:lnTo>
                  <a:lnTo>
                    <a:pt x="2107259" y="2006778"/>
                  </a:lnTo>
                  <a:lnTo>
                    <a:pt x="2092110" y="2050375"/>
                  </a:lnTo>
                  <a:lnTo>
                    <a:pt x="2071633" y="2091172"/>
                  </a:lnTo>
                  <a:lnTo>
                    <a:pt x="2046248" y="2128749"/>
                  </a:lnTo>
                  <a:lnTo>
                    <a:pt x="2016378" y="2162683"/>
                  </a:lnTo>
                  <a:lnTo>
                    <a:pt x="1982445" y="2192552"/>
                  </a:lnTo>
                  <a:lnTo>
                    <a:pt x="1944868" y="2217937"/>
                  </a:lnTo>
                  <a:lnTo>
                    <a:pt x="1904071" y="2238414"/>
                  </a:lnTo>
                  <a:lnTo>
                    <a:pt x="1860474" y="2253563"/>
                  </a:lnTo>
                  <a:lnTo>
                    <a:pt x="1814500" y="2262961"/>
                  </a:lnTo>
                  <a:lnTo>
                    <a:pt x="1766570" y="2266188"/>
                  </a:lnTo>
                  <a:lnTo>
                    <a:pt x="353326" y="2266188"/>
                  </a:lnTo>
                  <a:lnTo>
                    <a:pt x="305382" y="2262961"/>
                  </a:lnTo>
                  <a:lnTo>
                    <a:pt x="259398" y="2253563"/>
                  </a:lnTo>
                  <a:lnTo>
                    <a:pt x="215796" y="2238414"/>
                  </a:lnTo>
                  <a:lnTo>
                    <a:pt x="174996" y="2217937"/>
                  </a:lnTo>
                  <a:lnTo>
                    <a:pt x="137419" y="2192552"/>
                  </a:lnTo>
                  <a:lnTo>
                    <a:pt x="103487" y="2162683"/>
                  </a:lnTo>
                  <a:lnTo>
                    <a:pt x="73620" y="2128749"/>
                  </a:lnTo>
                  <a:lnTo>
                    <a:pt x="48239" y="2091172"/>
                  </a:lnTo>
                  <a:lnTo>
                    <a:pt x="27766" y="2050375"/>
                  </a:lnTo>
                  <a:lnTo>
                    <a:pt x="12621" y="2006778"/>
                  </a:lnTo>
                  <a:lnTo>
                    <a:pt x="3225" y="1960804"/>
                  </a:lnTo>
                  <a:lnTo>
                    <a:pt x="0" y="1912874"/>
                  </a:lnTo>
                  <a:lnTo>
                    <a:pt x="0" y="35331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66064" y="4155440"/>
            <a:ext cx="1469390" cy="80264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8100" marR="30480" algn="ctr">
              <a:lnSpc>
                <a:spcPts val="1760"/>
              </a:lnSpc>
              <a:spcBef>
                <a:spcPts val="285"/>
              </a:spcBef>
            </a:pPr>
            <a:r>
              <a:rPr sz="1600" b="1" spc="10" dirty="0">
                <a:solidFill>
                  <a:srgbClr val="FFFFFF"/>
                </a:solidFill>
                <a:latin typeface="Calibri"/>
                <a:cs typeface="Calibri"/>
              </a:rPr>
              <a:t>TTT</a:t>
            </a:r>
            <a:r>
              <a:rPr sz="16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HRBP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sz="1600" b="1" spc="-3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impact</a:t>
            </a:r>
            <a:r>
              <a:rPr sz="16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planning</a:t>
            </a:r>
            <a:endParaRPr sz="16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490"/>
              </a:spcBef>
            </a:pP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9-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r>
              <a:rPr sz="1575" b="1" baseline="26455" dirty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r>
              <a:rPr sz="1575" b="1" spc="150" baseline="264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Jan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508250" y="3255009"/>
            <a:ext cx="2132965" cy="2339975"/>
            <a:chOff x="2508250" y="3255009"/>
            <a:chExt cx="2132965" cy="2339975"/>
          </a:xfrm>
        </p:grpSpPr>
        <p:sp>
          <p:nvSpPr>
            <p:cNvPr id="11" name="object 11"/>
            <p:cNvSpPr/>
            <p:nvPr/>
          </p:nvSpPr>
          <p:spPr>
            <a:xfrm>
              <a:off x="2514600" y="3261359"/>
              <a:ext cx="2120265" cy="2327275"/>
            </a:xfrm>
            <a:custGeom>
              <a:avLst/>
              <a:gdLst/>
              <a:ahLst/>
              <a:cxnLst/>
              <a:rect l="l" t="t" r="r" b="b"/>
              <a:pathLst>
                <a:path w="2120265" h="2327275">
                  <a:moveTo>
                    <a:pt x="1766570" y="0"/>
                  </a:moveTo>
                  <a:lnTo>
                    <a:pt x="353313" y="0"/>
                  </a:lnTo>
                  <a:lnTo>
                    <a:pt x="305383" y="3226"/>
                  </a:lnTo>
                  <a:lnTo>
                    <a:pt x="259409" y="12624"/>
                  </a:lnTo>
                  <a:lnTo>
                    <a:pt x="215812" y="27773"/>
                  </a:lnTo>
                  <a:lnTo>
                    <a:pt x="175015" y="48250"/>
                  </a:lnTo>
                  <a:lnTo>
                    <a:pt x="137438" y="73635"/>
                  </a:lnTo>
                  <a:lnTo>
                    <a:pt x="103505" y="103505"/>
                  </a:lnTo>
                  <a:lnTo>
                    <a:pt x="73635" y="137438"/>
                  </a:lnTo>
                  <a:lnTo>
                    <a:pt x="48250" y="175015"/>
                  </a:lnTo>
                  <a:lnTo>
                    <a:pt x="27773" y="215812"/>
                  </a:lnTo>
                  <a:lnTo>
                    <a:pt x="12624" y="259409"/>
                  </a:lnTo>
                  <a:lnTo>
                    <a:pt x="3226" y="305383"/>
                  </a:lnTo>
                  <a:lnTo>
                    <a:pt x="0" y="353313"/>
                  </a:lnTo>
                  <a:lnTo>
                    <a:pt x="0" y="1973833"/>
                  </a:lnTo>
                  <a:lnTo>
                    <a:pt x="3226" y="2021764"/>
                  </a:lnTo>
                  <a:lnTo>
                    <a:pt x="12624" y="2067738"/>
                  </a:lnTo>
                  <a:lnTo>
                    <a:pt x="27773" y="2111335"/>
                  </a:lnTo>
                  <a:lnTo>
                    <a:pt x="48250" y="2152132"/>
                  </a:lnTo>
                  <a:lnTo>
                    <a:pt x="73635" y="2189709"/>
                  </a:lnTo>
                  <a:lnTo>
                    <a:pt x="103505" y="2223643"/>
                  </a:lnTo>
                  <a:lnTo>
                    <a:pt x="137438" y="2253512"/>
                  </a:lnTo>
                  <a:lnTo>
                    <a:pt x="175015" y="2278897"/>
                  </a:lnTo>
                  <a:lnTo>
                    <a:pt x="215812" y="2299374"/>
                  </a:lnTo>
                  <a:lnTo>
                    <a:pt x="259409" y="2314523"/>
                  </a:lnTo>
                  <a:lnTo>
                    <a:pt x="305383" y="2323921"/>
                  </a:lnTo>
                  <a:lnTo>
                    <a:pt x="353313" y="2327148"/>
                  </a:lnTo>
                  <a:lnTo>
                    <a:pt x="1766570" y="2327148"/>
                  </a:lnTo>
                  <a:lnTo>
                    <a:pt x="1814500" y="2323921"/>
                  </a:lnTo>
                  <a:lnTo>
                    <a:pt x="1860474" y="2314523"/>
                  </a:lnTo>
                  <a:lnTo>
                    <a:pt x="1904071" y="2299374"/>
                  </a:lnTo>
                  <a:lnTo>
                    <a:pt x="1944868" y="2278897"/>
                  </a:lnTo>
                  <a:lnTo>
                    <a:pt x="1982445" y="2253512"/>
                  </a:lnTo>
                  <a:lnTo>
                    <a:pt x="2016378" y="2223643"/>
                  </a:lnTo>
                  <a:lnTo>
                    <a:pt x="2046248" y="2189709"/>
                  </a:lnTo>
                  <a:lnTo>
                    <a:pt x="2071633" y="2152132"/>
                  </a:lnTo>
                  <a:lnTo>
                    <a:pt x="2092110" y="2111335"/>
                  </a:lnTo>
                  <a:lnTo>
                    <a:pt x="2107259" y="2067738"/>
                  </a:lnTo>
                  <a:lnTo>
                    <a:pt x="2116657" y="2021764"/>
                  </a:lnTo>
                  <a:lnTo>
                    <a:pt x="2119884" y="1973833"/>
                  </a:lnTo>
                  <a:lnTo>
                    <a:pt x="2119884" y="353313"/>
                  </a:lnTo>
                  <a:lnTo>
                    <a:pt x="2116657" y="305383"/>
                  </a:lnTo>
                  <a:lnTo>
                    <a:pt x="2107259" y="259409"/>
                  </a:lnTo>
                  <a:lnTo>
                    <a:pt x="2092110" y="215812"/>
                  </a:lnTo>
                  <a:lnTo>
                    <a:pt x="2071633" y="175015"/>
                  </a:lnTo>
                  <a:lnTo>
                    <a:pt x="2046248" y="137438"/>
                  </a:lnTo>
                  <a:lnTo>
                    <a:pt x="2016378" y="103505"/>
                  </a:lnTo>
                  <a:lnTo>
                    <a:pt x="1982445" y="73635"/>
                  </a:lnTo>
                  <a:lnTo>
                    <a:pt x="1944868" y="48250"/>
                  </a:lnTo>
                  <a:lnTo>
                    <a:pt x="1904071" y="27773"/>
                  </a:lnTo>
                  <a:lnTo>
                    <a:pt x="1860474" y="12624"/>
                  </a:lnTo>
                  <a:lnTo>
                    <a:pt x="1814500" y="3226"/>
                  </a:lnTo>
                  <a:lnTo>
                    <a:pt x="176657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14600" y="3261359"/>
              <a:ext cx="2120265" cy="2327275"/>
            </a:xfrm>
            <a:custGeom>
              <a:avLst/>
              <a:gdLst/>
              <a:ahLst/>
              <a:cxnLst/>
              <a:rect l="l" t="t" r="r" b="b"/>
              <a:pathLst>
                <a:path w="2120265" h="2327275">
                  <a:moveTo>
                    <a:pt x="0" y="353313"/>
                  </a:moveTo>
                  <a:lnTo>
                    <a:pt x="3226" y="305383"/>
                  </a:lnTo>
                  <a:lnTo>
                    <a:pt x="12624" y="259409"/>
                  </a:lnTo>
                  <a:lnTo>
                    <a:pt x="27773" y="215812"/>
                  </a:lnTo>
                  <a:lnTo>
                    <a:pt x="48250" y="175015"/>
                  </a:lnTo>
                  <a:lnTo>
                    <a:pt x="73635" y="137438"/>
                  </a:lnTo>
                  <a:lnTo>
                    <a:pt x="103505" y="103505"/>
                  </a:lnTo>
                  <a:lnTo>
                    <a:pt x="137438" y="73635"/>
                  </a:lnTo>
                  <a:lnTo>
                    <a:pt x="175015" y="48250"/>
                  </a:lnTo>
                  <a:lnTo>
                    <a:pt x="215812" y="27773"/>
                  </a:lnTo>
                  <a:lnTo>
                    <a:pt x="259409" y="12624"/>
                  </a:lnTo>
                  <a:lnTo>
                    <a:pt x="305383" y="3226"/>
                  </a:lnTo>
                  <a:lnTo>
                    <a:pt x="353313" y="0"/>
                  </a:lnTo>
                  <a:lnTo>
                    <a:pt x="1766570" y="0"/>
                  </a:lnTo>
                  <a:lnTo>
                    <a:pt x="1814500" y="3226"/>
                  </a:lnTo>
                  <a:lnTo>
                    <a:pt x="1860474" y="12624"/>
                  </a:lnTo>
                  <a:lnTo>
                    <a:pt x="1904071" y="27773"/>
                  </a:lnTo>
                  <a:lnTo>
                    <a:pt x="1944868" y="48250"/>
                  </a:lnTo>
                  <a:lnTo>
                    <a:pt x="1982445" y="73635"/>
                  </a:lnTo>
                  <a:lnTo>
                    <a:pt x="2016378" y="103505"/>
                  </a:lnTo>
                  <a:lnTo>
                    <a:pt x="2046248" y="137438"/>
                  </a:lnTo>
                  <a:lnTo>
                    <a:pt x="2071633" y="175015"/>
                  </a:lnTo>
                  <a:lnTo>
                    <a:pt x="2092110" y="215812"/>
                  </a:lnTo>
                  <a:lnTo>
                    <a:pt x="2107259" y="259409"/>
                  </a:lnTo>
                  <a:lnTo>
                    <a:pt x="2116657" y="305383"/>
                  </a:lnTo>
                  <a:lnTo>
                    <a:pt x="2119884" y="353313"/>
                  </a:lnTo>
                  <a:lnTo>
                    <a:pt x="2119884" y="1973833"/>
                  </a:lnTo>
                  <a:lnTo>
                    <a:pt x="2116657" y="2021764"/>
                  </a:lnTo>
                  <a:lnTo>
                    <a:pt x="2107259" y="2067738"/>
                  </a:lnTo>
                  <a:lnTo>
                    <a:pt x="2092110" y="2111335"/>
                  </a:lnTo>
                  <a:lnTo>
                    <a:pt x="2071633" y="2152132"/>
                  </a:lnTo>
                  <a:lnTo>
                    <a:pt x="2046248" y="2189709"/>
                  </a:lnTo>
                  <a:lnTo>
                    <a:pt x="2016378" y="2223643"/>
                  </a:lnTo>
                  <a:lnTo>
                    <a:pt x="1982445" y="2253512"/>
                  </a:lnTo>
                  <a:lnTo>
                    <a:pt x="1944868" y="2278897"/>
                  </a:lnTo>
                  <a:lnTo>
                    <a:pt x="1904071" y="2299374"/>
                  </a:lnTo>
                  <a:lnTo>
                    <a:pt x="1860474" y="2314523"/>
                  </a:lnTo>
                  <a:lnTo>
                    <a:pt x="1814500" y="2323921"/>
                  </a:lnTo>
                  <a:lnTo>
                    <a:pt x="1766570" y="2327148"/>
                  </a:lnTo>
                  <a:lnTo>
                    <a:pt x="353313" y="2327148"/>
                  </a:lnTo>
                  <a:lnTo>
                    <a:pt x="305383" y="2323921"/>
                  </a:lnTo>
                  <a:lnTo>
                    <a:pt x="259409" y="2314523"/>
                  </a:lnTo>
                  <a:lnTo>
                    <a:pt x="215812" y="2299374"/>
                  </a:lnTo>
                  <a:lnTo>
                    <a:pt x="175015" y="2278897"/>
                  </a:lnTo>
                  <a:lnTo>
                    <a:pt x="137438" y="2253512"/>
                  </a:lnTo>
                  <a:lnTo>
                    <a:pt x="103505" y="2223643"/>
                  </a:lnTo>
                  <a:lnTo>
                    <a:pt x="73635" y="2189709"/>
                  </a:lnTo>
                  <a:lnTo>
                    <a:pt x="48250" y="2152132"/>
                  </a:lnTo>
                  <a:lnTo>
                    <a:pt x="27773" y="2111335"/>
                  </a:lnTo>
                  <a:lnTo>
                    <a:pt x="12624" y="2067738"/>
                  </a:lnTo>
                  <a:lnTo>
                    <a:pt x="3226" y="2021764"/>
                  </a:lnTo>
                  <a:lnTo>
                    <a:pt x="0" y="1973833"/>
                  </a:lnTo>
                  <a:lnTo>
                    <a:pt x="0" y="35331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691510" y="3846067"/>
            <a:ext cx="1764030" cy="49149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464820" marR="5080" indent="-452755">
              <a:lnSpc>
                <a:spcPts val="1750"/>
              </a:lnSpc>
              <a:spcBef>
                <a:spcPts val="295"/>
              </a:spcBef>
            </a:pP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Line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manager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Access </a:t>
            </a:r>
            <a:r>
              <a:rPr sz="1600" b="1" spc="-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to reports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90367" y="4627879"/>
            <a:ext cx="400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b="1" baseline="-17361" dirty="0">
                <a:solidFill>
                  <a:srgbClr val="FFFFFF"/>
                </a:solidFill>
                <a:latin typeface="Calibri"/>
                <a:cs typeface="Calibri"/>
              </a:rPr>
              <a:t>11</a:t>
            </a:r>
            <a:r>
              <a:rPr sz="1050" b="1" dirty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33342" y="4688840"/>
            <a:ext cx="301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Jan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981702" y="3274821"/>
            <a:ext cx="2132965" cy="2298700"/>
            <a:chOff x="4981702" y="3274821"/>
            <a:chExt cx="2132965" cy="2298700"/>
          </a:xfrm>
        </p:grpSpPr>
        <p:sp>
          <p:nvSpPr>
            <p:cNvPr id="17" name="object 17"/>
            <p:cNvSpPr/>
            <p:nvPr/>
          </p:nvSpPr>
          <p:spPr>
            <a:xfrm>
              <a:off x="4988052" y="3281171"/>
              <a:ext cx="2120265" cy="2286000"/>
            </a:xfrm>
            <a:custGeom>
              <a:avLst/>
              <a:gdLst/>
              <a:ahLst/>
              <a:cxnLst/>
              <a:rect l="l" t="t" r="r" b="b"/>
              <a:pathLst>
                <a:path w="2120265" h="2286000">
                  <a:moveTo>
                    <a:pt x="1766570" y="0"/>
                  </a:moveTo>
                  <a:lnTo>
                    <a:pt x="353313" y="0"/>
                  </a:lnTo>
                  <a:lnTo>
                    <a:pt x="305383" y="3226"/>
                  </a:lnTo>
                  <a:lnTo>
                    <a:pt x="259409" y="12624"/>
                  </a:lnTo>
                  <a:lnTo>
                    <a:pt x="215812" y="27773"/>
                  </a:lnTo>
                  <a:lnTo>
                    <a:pt x="175015" y="48250"/>
                  </a:lnTo>
                  <a:lnTo>
                    <a:pt x="137438" y="73635"/>
                  </a:lnTo>
                  <a:lnTo>
                    <a:pt x="103505" y="103505"/>
                  </a:lnTo>
                  <a:lnTo>
                    <a:pt x="73635" y="137438"/>
                  </a:lnTo>
                  <a:lnTo>
                    <a:pt x="48250" y="175015"/>
                  </a:lnTo>
                  <a:lnTo>
                    <a:pt x="27773" y="215812"/>
                  </a:lnTo>
                  <a:lnTo>
                    <a:pt x="12624" y="259409"/>
                  </a:lnTo>
                  <a:lnTo>
                    <a:pt x="3226" y="305383"/>
                  </a:lnTo>
                  <a:lnTo>
                    <a:pt x="0" y="353313"/>
                  </a:lnTo>
                  <a:lnTo>
                    <a:pt x="0" y="1932685"/>
                  </a:lnTo>
                  <a:lnTo>
                    <a:pt x="3226" y="1980616"/>
                  </a:lnTo>
                  <a:lnTo>
                    <a:pt x="12624" y="2026590"/>
                  </a:lnTo>
                  <a:lnTo>
                    <a:pt x="27773" y="2070187"/>
                  </a:lnTo>
                  <a:lnTo>
                    <a:pt x="48250" y="2110984"/>
                  </a:lnTo>
                  <a:lnTo>
                    <a:pt x="73635" y="2148561"/>
                  </a:lnTo>
                  <a:lnTo>
                    <a:pt x="103505" y="2182495"/>
                  </a:lnTo>
                  <a:lnTo>
                    <a:pt x="137438" y="2212364"/>
                  </a:lnTo>
                  <a:lnTo>
                    <a:pt x="175015" y="2237749"/>
                  </a:lnTo>
                  <a:lnTo>
                    <a:pt x="215812" y="2258226"/>
                  </a:lnTo>
                  <a:lnTo>
                    <a:pt x="259409" y="2273375"/>
                  </a:lnTo>
                  <a:lnTo>
                    <a:pt x="305383" y="2282773"/>
                  </a:lnTo>
                  <a:lnTo>
                    <a:pt x="353313" y="2286000"/>
                  </a:lnTo>
                  <a:lnTo>
                    <a:pt x="1766570" y="2286000"/>
                  </a:lnTo>
                  <a:lnTo>
                    <a:pt x="1814500" y="2282773"/>
                  </a:lnTo>
                  <a:lnTo>
                    <a:pt x="1860474" y="2273375"/>
                  </a:lnTo>
                  <a:lnTo>
                    <a:pt x="1904071" y="2258226"/>
                  </a:lnTo>
                  <a:lnTo>
                    <a:pt x="1944868" y="2237749"/>
                  </a:lnTo>
                  <a:lnTo>
                    <a:pt x="1982445" y="2212364"/>
                  </a:lnTo>
                  <a:lnTo>
                    <a:pt x="2016378" y="2182495"/>
                  </a:lnTo>
                  <a:lnTo>
                    <a:pt x="2046248" y="2148561"/>
                  </a:lnTo>
                  <a:lnTo>
                    <a:pt x="2071633" y="2110984"/>
                  </a:lnTo>
                  <a:lnTo>
                    <a:pt x="2092110" y="2070187"/>
                  </a:lnTo>
                  <a:lnTo>
                    <a:pt x="2107259" y="2026590"/>
                  </a:lnTo>
                  <a:lnTo>
                    <a:pt x="2116657" y="1980616"/>
                  </a:lnTo>
                  <a:lnTo>
                    <a:pt x="2119883" y="1932685"/>
                  </a:lnTo>
                  <a:lnTo>
                    <a:pt x="2119883" y="353313"/>
                  </a:lnTo>
                  <a:lnTo>
                    <a:pt x="2116657" y="305383"/>
                  </a:lnTo>
                  <a:lnTo>
                    <a:pt x="2107259" y="259409"/>
                  </a:lnTo>
                  <a:lnTo>
                    <a:pt x="2092110" y="215812"/>
                  </a:lnTo>
                  <a:lnTo>
                    <a:pt x="2071633" y="175015"/>
                  </a:lnTo>
                  <a:lnTo>
                    <a:pt x="2046248" y="137438"/>
                  </a:lnTo>
                  <a:lnTo>
                    <a:pt x="2016378" y="103505"/>
                  </a:lnTo>
                  <a:lnTo>
                    <a:pt x="1982445" y="73635"/>
                  </a:lnTo>
                  <a:lnTo>
                    <a:pt x="1944868" y="48250"/>
                  </a:lnTo>
                  <a:lnTo>
                    <a:pt x="1904071" y="27773"/>
                  </a:lnTo>
                  <a:lnTo>
                    <a:pt x="1860474" y="12624"/>
                  </a:lnTo>
                  <a:lnTo>
                    <a:pt x="1814500" y="3226"/>
                  </a:lnTo>
                  <a:lnTo>
                    <a:pt x="176657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988052" y="3281171"/>
              <a:ext cx="2120265" cy="2286000"/>
            </a:xfrm>
            <a:custGeom>
              <a:avLst/>
              <a:gdLst/>
              <a:ahLst/>
              <a:cxnLst/>
              <a:rect l="l" t="t" r="r" b="b"/>
              <a:pathLst>
                <a:path w="2120265" h="2286000">
                  <a:moveTo>
                    <a:pt x="0" y="353313"/>
                  </a:moveTo>
                  <a:lnTo>
                    <a:pt x="3226" y="305383"/>
                  </a:lnTo>
                  <a:lnTo>
                    <a:pt x="12624" y="259409"/>
                  </a:lnTo>
                  <a:lnTo>
                    <a:pt x="27773" y="215812"/>
                  </a:lnTo>
                  <a:lnTo>
                    <a:pt x="48250" y="175015"/>
                  </a:lnTo>
                  <a:lnTo>
                    <a:pt x="73635" y="137438"/>
                  </a:lnTo>
                  <a:lnTo>
                    <a:pt x="103505" y="103505"/>
                  </a:lnTo>
                  <a:lnTo>
                    <a:pt x="137438" y="73635"/>
                  </a:lnTo>
                  <a:lnTo>
                    <a:pt x="175015" y="48250"/>
                  </a:lnTo>
                  <a:lnTo>
                    <a:pt x="215812" y="27773"/>
                  </a:lnTo>
                  <a:lnTo>
                    <a:pt x="259409" y="12624"/>
                  </a:lnTo>
                  <a:lnTo>
                    <a:pt x="305383" y="3226"/>
                  </a:lnTo>
                  <a:lnTo>
                    <a:pt x="353313" y="0"/>
                  </a:lnTo>
                  <a:lnTo>
                    <a:pt x="1766570" y="0"/>
                  </a:lnTo>
                  <a:lnTo>
                    <a:pt x="1814500" y="3226"/>
                  </a:lnTo>
                  <a:lnTo>
                    <a:pt x="1860474" y="12624"/>
                  </a:lnTo>
                  <a:lnTo>
                    <a:pt x="1904071" y="27773"/>
                  </a:lnTo>
                  <a:lnTo>
                    <a:pt x="1944868" y="48250"/>
                  </a:lnTo>
                  <a:lnTo>
                    <a:pt x="1982445" y="73635"/>
                  </a:lnTo>
                  <a:lnTo>
                    <a:pt x="2016378" y="103505"/>
                  </a:lnTo>
                  <a:lnTo>
                    <a:pt x="2046248" y="137438"/>
                  </a:lnTo>
                  <a:lnTo>
                    <a:pt x="2071633" y="175015"/>
                  </a:lnTo>
                  <a:lnTo>
                    <a:pt x="2092110" y="215812"/>
                  </a:lnTo>
                  <a:lnTo>
                    <a:pt x="2107259" y="259409"/>
                  </a:lnTo>
                  <a:lnTo>
                    <a:pt x="2116657" y="305383"/>
                  </a:lnTo>
                  <a:lnTo>
                    <a:pt x="2119883" y="353313"/>
                  </a:lnTo>
                  <a:lnTo>
                    <a:pt x="2119883" y="1932685"/>
                  </a:lnTo>
                  <a:lnTo>
                    <a:pt x="2116657" y="1980616"/>
                  </a:lnTo>
                  <a:lnTo>
                    <a:pt x="2107259" y="2026590"/>
                  </a:lnTo>
                  <a:lnTo>
                    <a:pt x="2092110" y="2070187"/>
                  </a:lnTo>
                  <a:lnTo>
                    <a:pt x="2071633" y="2110984"/>
                  </a:lnTo>
                  <a:lnTo>
                    <a:pt x="2046248" y="2148561"/>
                  </a:lnTo>
                  <a:lnTo>
                    <a:pt x="2016378" y="2182495"/>
                  </a:lnTo>
                  <a:lnTo>
                    <a:pt x="1982445" y="2212364"/>
                  </a:lnTo>
                  <a:lnTo>
                    <a:pt x="1944868" y="2237749"/>
                  </a:lnTo>
                  <a:lnTo>
                    <a:pt x="1904071" y="2258226"/>
                  </a:lnTo>
                  <a:lnTo>
                    <a:pt x="1860474" y="2273375"/>
                  </a:lnTo>
                  <a:lnTo>
                    <a:pt x="1814500" y="2282773"/>
                  </a:lnTo>
                  <a:lnTo>
                    <a:pt x="1766570" y="2286000"/>
                  </a:lnTo>
                  <a:lnTo>
                    <a:pt x="353313" y="2286000"/>
                  </a:lnTo>
                  <a:lnTo>
                    <a:pt x="305383" y="2282773"/>
                  </a:lnTo>
                  <a:lnTo>
                    <a:pt x="259409" y="2273375"/>
                  </a:lnTo>
                  <a:lnTo>
                    <a:pt x="215812" y="2258226"/>
                  </a:lnTo>
                  <a:lnTo>
                    <a:pt x="175015" y="2237749"/>
                  </a:lnTo>
                  <a:lnTo>
                    <a:pt x="137438" y="2212364"/>
                  </a:lnTo>
                  <a:lnTo>
                    <a:pt x="103505" y="2182495"/>
                  </a:lnTo>
                  <a:lnTo>
                    <a:pt x="73635" y="2148561"/>
                  </a:lnTo>
                  <a:lnTo>
                    <a:pt x="48250" y="2110984"/>
                  </a:lnTo>
                  <a:lnTo>
                    <a:pt x="27773" y="2070187"/>
                  </a:lnTo>
                  <a:lnTo>
                    <a:pt x="12624" y="2026590"/>
                  </a:lnTo>
                  <a:lnTo>
                    <a:pt x="3226" y="1980616"/>
                  </a:lnTo>
                  <a:lnTo>
                    <a:pt x="0" y="1932685"/>
                  </a:lnTo>
                  <a:lnTo>
                    <a:pt x="0" y="35331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309108" y="3417823"/>
            <a:ext cx="1479550" cy="214249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algn="ctr">
              <a:lnSpc>
                <a:spcPct val="91500"/>
              </a:lnSpc>
              <a:spcBef>
                <a:spcPts val="259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Impact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planning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concludes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 divisions and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departments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600" b="1" spc="-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communication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 about divisional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priorities</a:t>
            </a:r>
            <a:r>
              <a:rPr sz="16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employees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15th  </a:t>
            </a: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Feb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455154" y="3305302"/>
            <a:ext cx="2132965" cy="2237740"/>
            <a:chOff x="7455154" y="3305302"/>
            <a:chExt cx="2132965" cy="2237740"/>
          </a:xfrm>
        </p:grpSpPr>
        <p:sp>
          <p:nvSpPr>
            <p:cNvPr id="21" name="object 21"/>
            <p:cNvSpPr/>
            <p:nvPr/>
          </p:nvSpPr>
          <p:spPr>
            <a:xfrm>
              <a:off x="7461504" y="3311652"/>
              <a:ext cx="2120265" cy="2225040"/>
            </a:xfrm>
            <a:custGeom>
              <a:avLst/>
              <a:gdLst/>
              <a:ahLst/>
              <a:cxnLst/>
              <a:rect l="l" t="t" r="r" b="b"/>
              <a:pathLst>
                <a:path w="2120265" h="2225040">
                  <a:moveTo>
                    <a:pt x="1766570" y="0"/>
                  </a:moveTo>
                  <a:lnTo>
                    <a:pt x="353314" y="0"/>
                  </a:lnTo>
                  <a:lnTo>
                    <a:pt x="305383" y="3226"/>
                  </a:lnTo>
                  <a:lnTo>
                    <a:pt x="259409" y="12624"/>
                  </a:lnTo>
                  <a:lnTo>
                    <a:pt x="215812" y="27773"/>
                  </a:lnTo>
                  <a:lnTo>
                    <a:pt x="175015" y="48250"/>
                  </a:lnTo>
                  <a:lnTo>
                    <a:pt x="137438" y="73635"/>
                  </a:lnTo>
                  <a:lnTo>
                    <a:pt x="103504" y="103505"/>
                  </a:lnTo>
                  <a:lnTo>
                    <a:pt x="73635" y="137438"/>
                  </a:lnTo>
                  <a:lnTo>
                    <a:pt x="48250" y="175015"/>
                  </a:lnTo>
                  <a:lnTo>
                    <a:pt x="27773" y="215812"/>
                  </a:lnTo>
                  <a:lnTo>
                    <a:pt x="12624" y="259409"/>
                  </a:lnTo>
                  <a:lnTo>
                    <a:pt x="3226" y="305383"/>
                  </a:lnTo>
                  <a:lnTo>
                    <a:pt x="0" y="353314"/>
                  </a:lnTo>
                  <a:lnTo>
                    <a:pt x="0" y="1871726"/>
                  </a:lnTo>
                  <a:lnTo>
                    <a:pt x="3226" y="1919656"/>
                  </a:lnTo>
                  <a:lnTo>
                    <a:pt x="12624" y="1965630"/>
                  </a:lnTo>
                  <a:lnTo>
                    <a:pt x="27773" y="2009227"/>
                  </a:lnTo>
                  <a:lnTo>
                    <a:pt x="48250" y="2050024"/>
                  </a:lnTo>
                  <a:lnTo>
                    <a:pt x="73635" y="2087601"/>
                  </a:lnTo>
                  <a:lnTo>
                    <a:pt x="103505" y="2121535"/>
                  </a:lnTo>
                  <a:lnTo>
                    <a:pt x="137438" y="2151404"/>
                  </a:lnTo>
                  <a:lnTo>
                    <a:pt x="175015" y="2176789"/>
                  </a:lnTo>
                  <a:lnTo>
                    <a:pt x="215812" y="2197266"/>
                  </a:lnTo>
                  <a:lnTo>
                    <a:pt x="259409" y="2212415"/>
                  </a:lnTo>
                  <a:lnTo>
                    <a:pt x="305383" y="2221813"/>
                  </a:lnTo>
                  <a:lnTo>
                    <a:pt x="353314" y="2225040"/>
                  </a:lnTo>
                  <a:lnTo>
                    <a:pt x="1766570" y="2225040"/>
                  </a:lnTo>
                  <a:lnTo>
                    <a:pt x="1814500" y="2221813"/>
                  </a:lnTo>
                  <a:lnTo>
                    <a:pt x="1860474" y="2212415"/>
                  </a:lnTo>
                  <a:lnTo>
                    <a:pt x="1904071" y="2197266"/>
                  </a:lnTo>
                  <a:lnTo>
                    <a:pt x="1944868" y="2176789"/>
                  </a:lnTo>
                  <a:lnTo>
                    <a:pt x="1982445" y="2151404"/>
                  </a:lnTo>
                  <a:lnTo>
                    <a:pt x="2016379" y="2121535"/>
                  </a:lnTo>
                  <a:lnTo>
                    <a:pt x="2046248" y="2087601"/>
                  </a:lnTo>
                  <a:lnTo>
                    <a:pt x="2071633" y="2050024"/>
                  </a:lnTo>
                  <a:lnTo>
                    <a:pt x="2092110" y="2009227"/>
                  </a:lnTo>
                  <a:lnTo>
                    <a:pt x="2107259" y="1965630"/>
                  </a:lnTo>
                  <a:lnTo>
                    <a:pt x="2116657" y="1919656"/>
                  </a:lnTo>
                  <a:lnTo>
                    <a:pt x="2119884" y="1871726"/>
                  </a:lnTo>
                  <a:lnTo>
                    <a:pt x="2119884" y="353314"/>
                  </a:lnTo>
                  <a:lnTo>
                    <a:pt x="2116657" y="305383"/>
                  </a:lnTo>
                  <a:lnTo>
                    <a:pt x="2107259" y="259409"/>
                  </a:lnTo>
                  <a:lnTo>
                    <a:pt x="2092110" y="215812"/>
                  </a:lnTo>
                  <a:lnTo>
                    <a:pt x="2071633" y="175015"/>
                  </a:lnTo>
                  <a:lnTo>
                    <a:pt x="2046248" y="137438"/>
                  </a:lnTo>
                  <a:lnTo>
                    <a:pt x="2016378" y="103505"/>
                  </a:lnTo>
                  <a:lnTo>
                    <a:pt x="1982445" y="73635"/>
                  </a:lnTo>
                  <a:lnTo>
                    <a:pt x="1944868" y="48250"/>
                  </a:lnTo>
                  <a:lnTo>
                    <a:pt x="1904071" y="27773"/>
                  </a:lnTo>
                  <a:lnTo>
                    <a:pt x="1860474" y="12624"/>
                  </a:lnTo>
                  <a:lnTo>
                    <a:pt x="1814500" y="3226"/>
                  </a:lnTo>
                  <a:lnTo>
                    <a:pt x="176657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461504" y="3311652"/>
              <a:ext cx="2120265" cy="2225040"/>
            </a:xfrm>
            <a:custGeom>
              <a:avLst/>
              <a:gdLst/>
              <a:ahLst/>
              <a:cxnLst/>
              <a:rect l="l" t="t" r="r" b="b"/>
              <a:pathLst>
                <a:path w="2120265" h="2225040">
                  <a:moveTo>
                    <a:pt x="0" y="353314"/>
                  </a:moveTo>
                  <a:lnTo>
                    <a:pt x="3226" y="305383"/>
                  </a:lnTo>
                  <a:lnTo>
                    <a:pt x="12624" y="259409"/>
                  </a:lnTo>
                  <a:lnTo>
                    <a:pt x="27773" y="215812"/>
                  </a:lnTo>
                  <a:lnTo>
                    <a:pt x="48250" y="175015"/>
                  </a:lnTo>
                  <a:lnTo>
                    <a:pt x="73635" y="137438"/>
                  </a:lnTo>
                  <a:lnTo>
                    <a:pt x="103504" y="103505"/>
                  </a:lnTo>
                  <a:lnTo>
                    <a:pt x="137438" y="73635"/>
                  </a:lnTo>
                  <a:lnTo>
                    <a:pt x="175015" y="48250"/>
                  </a:lnTo>
                  <a:lnTo>
                    <a:pt x="215812" y="27773"/>
                  </a:lnTo>
                  <a:lnTo>
                    <a:pt x="259409" y="12624"/>
                  </a:lnTo>
                  <a:lnTo>
                    <a:pt x="305383" y="3226"/>
                  </a:lnTo>
                  <a:lnTo>
                    <a:pt x="353314" y="0"/>
                  </a:lnTo>
                  <a:lnTo>
                    <a:pt x="1766570" y="0"/>
                  </a:lnTo>
                  <a:lnTo>
                    <a:pt x="1814500" y="3226"/>
                  </a:lnTo>
                  <a:lnTo>
                    <a:pt x="1860474" y="12624"/>
                  </a:lnTo>
                  <a:lnTo>
                    <a:pt x="1904071" y="27773"/>
                  </a:lnTo>
                  <a:lnTo>
                    <a:pt x="1944868" y="48250"/>
                  </a:lnTo>
                  <a:lnTo>
                    <a:pt x="1982445" y="73635"/>
                  </a:lnTo>
                  <a:lnTo>
                    <a:pt x="2016378" y="103505"/>
                  </a:lnTo>
                  <a:lnTo>
                    <a:pt x="2046248" y="137438"/>
                  </a:lnTo>
                  <a:lnTo>
                    <a:pt x="2071633" y="175015"/>
                  </a:lnTo>
                  <a:lnTo>
                    <a:pt x="2092110" y="215812"/>
                  </a:lnTo>
                  <a:lnTo>
                    <a:pt x="2107259" y="259409"/>
                  </a:lnTo>
                  <a:lnTo>
                    <a:pt x="2116657" y="305383"/>
                  </a:lnTo>
                  <a:lnTo>
                    <a:pt x="2119884" y="353314"/>
                  </a:lnTo>
                  <a:lnTo>
                    <a:pt x="2119884" y="1871726"/>
                  </a:lnTo>
                  <a:lnTo>
                    <a:pt x="2116657" y="1919656"/>
                  </a:lnTo>
                  <a:lnTo>
                    <a:pt x="2107259" y="1965630"/>
                  </a:lnTo>
                  <a:lnTo>
                    <a:pt x="2092110" y="2009227"/>
                  </a:lnTo>
                  <a:lnTo>
                    <a:pt x="2071633" y="2050024"/>
                  </a:lnTo>
                  <a:lnTo>
                    <a:pt x="2046248" y="2087601"/>
                  </a:lnTo>
                  <a:lnTo>
                    <a:pt x="2016379" y="2121535"/>
                  </a:lnTo>
                  <a:lnTo>
                    <a:pt x="1982445" y="2151404"/>
                  </a:lnTo>
                  <a:lnTo>
                    <a:pt x="1944868" y="2176789"/>
                  </a:lnTo>
                  <a:lnTo>
                    <a:pt x="1904071" y="2197266"/>
                  </a:lnTo>
                  <a:lnTo>
                    <a:pt x="1860474" y="2212415"/>
                  </a:lnTo>
                  <a:lnTo>
                    <a:pt x="1814500" y="2221813"/>
                  </a:lnTo>
                  <a:lnTo>
                    <a:pt x="1766570" y="2225040"/>
                  </a:lnTo>
                  <a:lnTo>
                    <a:pt x="353314" y="2225040"/>
                  </a:lnTo>
                  <a:lnTo>
                    <a:pt x="305383" y="2221813"/>
                  </a:lnTo>
                  <a:lnTo>
                    <a:pt x="259409" y="2212415"/>
                  </a:lnTo>
                  <a:lnTo>
                    <a:pt x="215812" y="2197266"/>
                  </a:lnTo>
                  <a:lnTo>
                    <a:pt x="175015" y="2176789"/>
                  </a:lnTo>
                  <a:lnTo>
                    <a:pt x="137438" y="2151404"/>
                  </a:lnTo>
                  <a:lnTo>
                    <a:pt x="103505" y="2121535"/>
                  </a:lnTo>
                  <a:lnTo>
                    <a:pt x="73635" y="2087601"/>
                  </a:lnTo>
                  <a:lnTo>
                    <a:pt x="48250" y="2050024"/>
                  </a:lnTo>
                  <a:lnTo>
                    <a:pt x="27773" y="2009227"/>
                  </a:lnTo>
                  <a:lnTo>
                    <a:pt x="12624" y="1965630"/>
                  </a:lnTo>
                  <a:lnTo>
                    <a:pt x="3226" y="1919656"/>
                  </a:lnTo>
                  <a:lnTo>
                    <a:pt x="0" y="1871726"/>
                  </a:lnTo>
                  <a:lnTo>
                    <a:pt x="0" y="35331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641717" y="3733876"/>
            <a:ext cx="1760855" cy="71628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indent="-1270" algn="ctr">
              <a:lnSpc>
                <a:spcPct val="91600"/>
              </a:lnSpc>
              <a:spcBef>
                <a:spcPts val="259"/>
              </a:spcBef>
            </a:pPr>
            <a:r>
              <a:rPr sz="1600" b="1" spc="10" dirty="0">
                <a:solidFill>
                  <a:srgbClr val="FFFFFF"/>
                </a:solidFill>
                <a:latin typeface="Calibri"/>
                <a:cs typeface="Calibri"/>
              </a:rPr>
              <a:t>TTT </a:t>
            </a: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Line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managers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impact </a:t>
            </a:r>
            <a:r>
              <a:rPr sz="1600" b="1" spc="-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planning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20965" y="4799838"/>
            <a:ext cx="16021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Mid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Jan-</a:t>
            </a: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u="heavy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Feb,</a:t>
            </a:r>
            <a:r>
              <a:rPr sz="1600" b="1" u="heavy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2023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928606" y="3285490"/>
            <a:ext cx="2132965" cy="2279015"/>
            <a:chOff x="9928606" y="3285490"/>
            <a:chExt cx="2132965" cy="2279015"/>
          </a:xfrm>
        </p:grpSpPr>
        <p:sp>
          <p:nvSpPr>
            <p:cNvPr id="26" name="object 26"/>
            <p:cNvSpPr/>
            <p:nvPr/>
          </p:nvSpPr>
          <p:spPr>
            <a:xfrm>
              <a:off x="9934956" y="3291840"/>
              <a:ext cx="2120265" cy="2266315"/>
            </a:xfrm>
            <a:custGeom>
              <a:avLst/>
              <a:gdLst/>
              <a:ahLst/>
              <a:cxnLst/>
              <a:rect l="l" t="t" r="r" b="b"/>
              <a:pathLst>
                <a:path w="2120265" h="2266315">
                  <a:moveTo>
                    <a:pt x="1766570" y="0"/>
                  </a:moveTo>
                  <a:lnTo>
                    <a:pt x="353314" y="0"/>
                  </a:lnTo>
                  <a:lnTo>
                    <a:pt x="305383" y="3226"/>
                  </a:lnTo>
                  <a:lnTo>
                    <a:pt x="259409" y="12624"/>
                  </a:lnTo>
                  <a:lnTo>
                    <a:pt x="215812" y="27773"/>
                  </a:lnTo>
                  <a:lnTo>
                    <a:pt x="175015" y="48250"/>
                  </a:lnTo>
                  <a:lnTo>
                    <a:pt x="137438" y="73635"/>
                  </a:lnTo>
                  <a:lnTo>
                    <a:pt x="103504" y="103505"/>
                  </a:lnTo>
                  <a:lnTo>
                    <a:pt x="73635" y="137438"/>
                  </a:lnTo>
                  <a:lnTo>
                    <a:pt x="48250" y="175015"/>
                  </a:lnTo>
                  <a:lnTo>
                    <a:pt x="27773" y="215812"/>
                  </a:lnTo>
                  <a:lnTo>
                    <a:pt x="12624" y="259409"/>
                  </a:lnTo>
                  <a:lnTo>
                    <a:pt x="3226" y="305383"/>
                  </a:lnTo>
                  <a:lnTo>
                    <a:pt x="0" y="353314"/>
                  </a:lnTo>
                  <a:lnTo>
                    <a:pt x="0" y="1912874"/>
                  </a:lnTo>
                  <a:lnTo>
                    <a:pt x="3226" y="1960804"/>
                  </a:lnTo>
                  <a:lnTo>
                    <a:pt x="12624" y="2006778"/>
                  </a:lnTo>
                  <a:lnTo>
                    <a:pt x="27773" y="2050375"/>
                  </a:lnTo>
                  <a:lnTo>
                    <a:pt x="48250" y="2091172"/>
                  </a:lnTo>
                  <a:lnTo>
                    <a:pt x="73635" y="2128749"/>
                  </a:lnTo>
                  <a:lnTo>
                    <a:pt x="103505" y="2162683"/>
                  </a:lnTo>
                  <a:lnTo>
                    <a:pt x="137438" y="2192552"/>
                  </a:lnTo>
                  <a:lnTo>
                    <a:pt x="175015" y="2217937"/>
                  </a:lnTo>
                  <a:lnTo>
                    <a:pt x="215812" y="2238414"/>
                  </a:lnTo>
                  <a:lnTo>
                    <a:pt x="259409" y="2253563"/>
                  </a:lnTo>
                  <a:lnTo>
                    <a:pt x="305383" y="2262961"/>
                  </a:lnTo>
                  <a:lnTo>
                    <a:pt x="353314" y="2266188"/>
                  </a:lnTo>
                  <a:lnTo>
                    <a:pt x="1766570" y="2266188"/>
                  </a:lnTo>
                  <a:lnTo>
                    <a:pt x="1814500" y="2262961"/>
                  </a:lnTo>
                  <a:lnTo>
                    <a:pt x="1860474" y="2253563"/>
                  </a:lnTo>
                  <a:lnTo>
                    <a:pt x="1904071" y="2238414"/>
                  </a:lnTo>
                  <a:lnTo>
                    <a:pt x="1944868" y="2217937"/>
                  </a:lnTo>
                  <a:lnTo>
                    <a:pt x="1982445" y="2192552"/>
                  </a:lnTo>
                  <a:lnTo>
                    <a:pt x="2016379" y="2162683"/>
                  </a:lnTo>
                  <a:lnTo>
                    <a:pt x="2046248" y="2128749"/>
                  </a:lnTo>
                  <a:lnTo>
                    <a:pt x="2071633" y="2091172"/>
                  </a:lnTo>
                  <a:lnTo>
                    <a:pt x="2092110" y="2050375"/>
                  </a:lnTo>
                  <a:lnTo>
                    <a:pt x="2107259" y="2006778"/>
                  </a:lnTo>
                  <a:lnTo>
                    <a:pt x="2116657" y="1960804"/>
                  </a:lnTo>
                  <a:lnTo>
                    <a:pt x="2119884" y="1912874"/>
                  </a:lnTo>
                  <a:lnTo>
                    <a:pt x="2119884" y="353314"/>
                  </a:lnTo>
                  <a:lnTo>
                    <a:pt x="2116657" y="305383"/>
                  </a:lnTo>
                  <a:lnTo>
                    <a:pt x="2107259" y="259409"/>
                  </a:lnTo>
                  <a:lnTo>
                    <a:pt x="2092110" y="215812"/>
                  </a:lnTo>
                  <a:lnTo>
                    <a:pt x="2071633" y="175015"/>
                  </a:lnTo>
                  <a:lnTo>
                    <a:pt x="2046248" y="137438"/>
                  </a:lnTo>
                  <a:lnTo>
                    <a:pt x="2016378" y="103505"/>
                  </a:lnTo>
                  <a:lnTo>
                    <a:pt x="1982445" y="73635"/>
                  </a:lnTo>
                  <a:lnTo>
                    <a:pt x="1944868" y="48250"/>
                  </a:lnTo>
                  <a:lnTo>
                    <a:pt x="1904071" y="27773"/>
                  </a:lnTo>
                  <a:lnTo>
                    <a:pt x="1860474" y="12624"/>
                  </a:lnTo>
                  <a:lnTo>
                    <a:pt x="1814500" y="3226"/>
                  </a:lnTo>
                  <a:lnTo>
                    <a:pt x="176657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934956" y="3291840"/>
              <a:ext cx="2120265" cy="2266315"/>
            </a:xfrm>
            <a:custGeom>
              <a:avLst/>
              <a:gdLst/>
              <a:ahLst/>
              <a:cxnLst/>
              <a:rect l="l" t="t" r="r" b="b"/>
              <a:pathLst>
                <a:path w="2120265" h="2266315">
                  <a:moveTo>
                    <a:pt x="0" y="353314"/>
                  </a:moveTo>
                  <a:lnTo>
                    <a:pt x="3226" y="305383"/>
                  </a:lnTo>
                  <a:lnTo>
                    <a:pt x="12624" y="259409"/>
                  </a:lnTo>
                  <a:lnTo>
                    <a:pt x="27773" y="215812"/>
                  </a:lnTo>
                  <a:lnTo>
                    <a:pt x="48250" y="175015"/>
                  </a:lnTo>
                  <a:lnTo>
                    <a:pt x="73635" y="137438"/>
                  </a:lnTo>
                  <a:lnTo>
                    <a:pt x="103504" y="103505"/>
                  </a:lnTo>
                  <a:lnTo>
                    <a:pt x="137438" y="73635"/>
                  </a:lnTo>
                  <a:lnTo>
                    <a:pt x="175015" y="48250"/>
                  </a:lnTo>
                  <a:lnTo>
                    <a:pt x="215812" y="27773"/>
                  </a:lnTo>
                  <a:lnTo>
                    <a:pt x="259409" y="12624"/>
                  </a:lnTo>
                  <a:lnTo>
                    <a:pt x="305383" y="3226"/>
                  </a:lnTo>
                  <a:lnTo>
                    <a:pt x="353314" y="0"/>
                  </a:lnTo>
                  <a:lnTo>
                    <a:pt x="1766570" y="0"/>
                  </a:lnTo>
                  <a:lnTo>
                    <a:pt x="1814500" y="3226"/>
                  </a:lnTo>
                  <a:lnTo>
                    <a:pt x="1860474" y="12624"/>
                  </a:lnTo>
                  <a:lnTo>
                    <a:pt x="1904071" y="27773"/>
                  </a:lnTo>
                  <a:lnTo>
                    <a:pt x="1944868" y="48250"/>
                  </a:lnTo>
                  <a:lnTo>
                    <a:pt x="1982445" y="73635"/>
                  </a:lnTo>
                  <a:lnTo>
                    <a:pt x="2016378" y="103505"/>
                  </a:lnTo>
                  <a:lnTo>
                    <a:pt x="2046248" y="137438"/>
                  </a:lnTo>
                  <a:lnTo>
                    <a:pt x="2071633" y="175015"/>
                  </a:lnTo>
                  <a:lnTo>
                    <a:pt x="2092110" y="215812"/>
                  </a:lnTo>
                  <a:lnTo>
                    <a:pt x="2107259" y="259409"/>
                  </a:lnTo>
                  <a:lnTo>
                    <a:pt x="2116657" y="305383"/>
                  </a:lnTo>
                  <a:lnTo>
                    <a:pt x="2119884" y="353314"/>
                  </a:lnTo>
                  <a:lnTo>
                    <a:pt x="2119884" y="1912874"/>
                  </a:lnTo>
                  <a:lnTo>
                    <a:pt x="2116657" y="1960804"/>
                  </a:lnTo>
                  <a:lnTo>
                    <a:pt x="2107259" y="2006778"/>
                  </a:lnTo>
                  <a:lnTo>
                    <a:pt x="2092110" y="2050375"/>
                  </a:lnTo>
                  <a:lnTo>
                    <a:pt x="2071633" y="2091172"/>
                  </a:lnTo>
                  <a:lnTo>
                    <a:pt x="2046248" y="2128749"/>
                  </a:lnTo>
                  <a:lnTo>
                    <a:pt x="2016379" y="2162683"/>
                  </a:lnTo>
                  <a:lnTo>
                    <a:pt x="1982445" y="2192552"/>
                  </a:lnTo>
                  <a:lnTo>
                    <a:pt x="1944868" y="2217937"/>
                  </a:lnTo>
                  <a:lnTo>
                    <a:pt x="1904071" y="2238414"/>
                  </a:lnTo>
                  <a:lnTo>
                    <a:pt x="1860474" y="2253563"/>
                  </a:lnTo>
                  <a:lnTo>
                    <a:pt x="1814500" y="2262961"/>
                  </a:lnTo>
                  <a:lnTo>
                    <a:pt x="1766570" y="2266188"/>
                  </a:lnTo>
                  <a:lnTo>
                    <a:pt x="353314" y="2266188"/>
                  </a:lnTo>
                  <a:lnTo>
                    <a:pt x="305383" y="2262961"/>
                  </a:lnTo>
                  <a:lnTo>
                    <a:pt x="259409" y="2253563"/>
                  </a:lnTo>
                  <a:lnTo>
                    <a:pt x="215812" y="2238414"/>
                  </a:lnTo>
                  <a:lnTo>
                    <a:pt x="175015" y="2217937"/>
                  </a:lnTo>
                  <a:lnTo>
                    <a:pt x="137438" y="2192552"/>
                  </a:lnTo>
                  <a:lnTo>
                    <a:pt x="103505" y="2162683"/>
                  </a:lnTo>
                  <a:lnTo>
                    <a:pt x="73635" y="2128749"/>
                  </a:lnTo>
                  <a:lnTo>
                    <a:pt x="48250" y="2091172"/>
                  </a:lnTo>
                  <a:lnTo>
                    <a:pt x="27773" y="2050375"/>
                  </a:lnTo>
                  <a:lnTo>
                    <a:pt x="12624" y="2006778"/>
                  </a:lnTo>
                  <a:lnTo>
                    <a:pt x="3226" y="1960804"/>
                  </a:lnTo>
                  <a:lnTo>
                    <a:pt x="0" y="1912874"/>
                  </a:lnTo>
                  <a:lnTo>
                    <a:pt x="0" y="35331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0150602" y="3846067"/>
            <a:ext cx="1689100" cy="49149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0480" marR="5080" indent="-18415">
              <a:lnSpc>
                <a:spcPts val="1750"/>
              </a:lnSpc>
              <a:spcBef>
                <a:spcPts val="29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Closure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all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action </a:t>
            </a:r>
            <a:r>
              <a:rPr sz="1600" b="1" spc="-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planning</a:t>
            </a: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6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458450" y="4688840"/>
            <a:ext cx="10744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March,</a:t>
            </a:r>
            <a:r>
              <a:rPr sz="16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2023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0844" y="3265500"/>
            <a:ext cx="5704840" cy="1692910"/>
          </a:xfrm>
          <a:prstGeom prst="rect">
            <a:avLst/>
          </a:prstGeom>
        </p:spPr>
        <p:txBody>
          <a:bodyPr vert="horz" wrap="square" lIns="0" tIns="288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75"/>
              </a:spcBef>
            </a:pPr>
            <a:r>
              <a:rPr sz="6000" spc="-10" dirty="0">
                <a:latin typeface="Calibri Light"/>
                <a:cs typeface="Calibri Light"/>
              </a:rPr>
              <a:t>OBJECTIVE</a:t>
            </a:r>
            <a:endParaRPr sz="60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2400" spc="-20" dirty="0">
                <a:solidFill>
                  <a:srgbClr val="888888"/>
                </a:solidFill>
                <a:latin typeface="Calibri"/>
                <a:cs typeface="Calibri"/>
              </a:rPr>
              <a:t>Why</a:t>
            </a:r>
            <a:r>
              <a:rPr sz="24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888888"/>
                </a:solidFill>
                <a:latin typeface="Calibri"/>
                <a:cs typeface="Calibri"/>
              </a:rPr>
              <a:t>action</a:t>
            </a:r>
            <a:r>
              <a:rPr sz="2400" spc="-2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888888"/>
                </a:solidFill>
                <a:latin typeface="Calibri"/>
                <a:cs typeface="Calibri"/>
              </a:rPr>
              <a:t>planning</a:t>
            </a:r>
            <a:r>
              <a:rPr sz="2400" spc="-2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888888"/>
                </a:solidFill>
                <a:latin typeface="Calibri"/>
                <a:cs typeface="Calibri"/>
              </a:rPr>
              <a:t>is</a:t>
            </a:r>
            <a:r>
              <a:rPr sz="2400" spc="-1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888888"/>
                </a:solidFill>
                <a:latin typeface="Calibri"/>
                <a:cs typeface="Calibri"/>
              </a:rPr>
              <a:t>critical</a:t>
            </a:r>
            <a:r>
              <a:rPr sz="24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888888"/>
                </a:solidFill>
                <a:latin typeface="Calibri"/>
                <a:cs typeface="Calibri"/>
              </a:rPr>
              <a:t>to</a:t>
            </a:r>
            <a:r>
              <a:rPr sz="2400" spc="-2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888888"/>
                </a:solidFill>
                <a:latin typeface="Calibri"/>
                <a:cs typeface="Calibri"/>
              </a:rPr>
              <a:t>this</a:t>
            </a:r>
            <a:r>
              <a:rPr sz="2400" spc="-10" dirty="0">
                <a:solidFill>
                  <a:srgbClr val="888888"/>
                </a:solidFill>
                <a:latin typeface="Calibri"/>
                <a:cs typeface="Calibri"/>
              </a:rPr>
              <a:t> process?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8327" y="1414272"/>
            <a:ext cx="11515725" cy="5110480"/>
          </a:xfrm>
          <a:custGeom>
            <a:avLst/>
            <a:gdLst/>
            <a:ahLst/>
            <a:cxnLst/>
            <a:rect l="l" t="t" r="r" b="b"/>
            <a:pathLst>
              <a:path w="11515725" h="5110480">
                <a:moveTo>
                  <a:pt x="11515344" y="0"/>
                </a:moveTo>
                <a:lnTo>
                  <a:pt x="0" y="0"/>
                </a:lnTo>
                <a:lnTo>
                  <a:pt x="0" y="5109972"/>
                </a:lnTo>
                <a:lnTo>
                  <a:pt x="11515344" y="5109972"/>
                </a:lnTo>
                <a:lnTo>
                  <a:pt x="1151534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7068" y="725551"/>
            <a:ext cx="11196320" cy="321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3830" algn="ctr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 Light"/>
                <a:cs typeface="Calibri Light"/>
              </a:rPr>
              <a:t>OBJECTIVE:</a:t>
            </a:r>
            <a:r>
              <a:rPr sz="1800" spc="-85" dirty="0">
                <a:latin typeface="Calibri Light"/>
                <a:cs typeface="Calibri Light"/>
              </a:rPr>
              <a:t> </a:t>
            </a:r>
            <a:r>
              <a:rPr sz="1800" spc="-10" dirty="0">
                <a:latin typeface="Calibri Light"/>
                <a:cs typeface="Calibri Light"/>
              </a:rPr>
              <a:t>ACTION</a:t>
            </a:r>
            <a:r>
              <a:rPr sz="1800" spc="-85" dirty="0">
                <a:latin typeface="Calibri Light"/>
                <a:cs typeface="Calibri Light"/>
              </a:rPr>
              <a:t> </a:t>
            </a:r>
            <a:r>
              <a:rPr sz="1800" spc="-15" dirty="0">
                <a:latin typeface="Calibri Light"/>
                <a:cs typeface="Calibri Light"/>
              </a:rPr>
              <a:t>PLANNING</a:t>
            </a:r>
            <a:r>
              <a:rPr sz="1800" spc="-80" dirty="0">
                <a:latin typeface="Calibri Light"/>
                <a:cs typeface="Calibri Light"/>
              </a:rPr>
              <a:t> </a:t>
            </a:r>
            <a:r>
              <a:rPr sz="1800" spc="-20" dirty="0">
                <a:latin typeface="Calibri Light"/>
                <a:cs typeface="Calibri Light"/>
              </a:rPr>
              <a:t>PROCESS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>
              <a:latin typeface="Calibri Light"/>
              <a:cs typeface="Calibri Light"/>
            </a:endParaRPr>
          </a:p>
          <a:p>
            <a:pPr marL="241300" indent="-228600">
              <a:lnSpc>
                <a:spcPct val="100000"/>
              </a:lnSpc>
              <a:buFont typeface="Wingdings"/>
              <a:buChar char=""/>
              <a:tabLst>
                <a:tab pos="241300" algn="l"/>
              </a:tabLst>
            </a:pP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most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important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part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employee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engagement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survey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process</a:t>
            </a:r>
            <a:r>
              <a:rPr sz="1800" spc="-5" dirty="0">
                <a:latin typeface="Calibri"/>
                <a:cs typeface="Calibri"/>
              </a:rPr>
              <a:t> 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collaboratively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creating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team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action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plan.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90"/>
              </a:spcBef>
              <a:buFont typeface="Wingdings"/>
              <a:buChar char=""/>
              <a:tabLst>
                <a:tab pos="241300" algn="l"/>
              </a:tabLst>
            </a:pP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action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planning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includes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multiple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steps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ensure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these </a:t>
            </a:r>
            <a:r>
              <a:rPr sz="1800" spc="-5" dirty="0">
                <a:latin typeface="Calibri"/>
                <a:cs typeface="Calibri"/>
              </a:rPr>
              <a:t>plans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deliberate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effective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241300" marR="37465" indent="-228600">
              <a:lnSpc>
                <a:spcPts val="1939"/>
              </a:lnSpc>
              <a:spcBef>
                <a:spcPts val="1030"/>
              </a:spcBef>
              <a:buFont typeface="Wingdings"/>
              <a:buChar char="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In </a:t>
            </a:r>
            <a:r>
              <a:rPr sz="1800" spc="-10" dirty="0">
                <a:latin typeface="Calibri"/>
                <a:cs typeface="Calibri"/>
              </a:rPr>
              <a:t>order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improve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team’s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work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environment</a:t>
            </a:r>
            <a:r>
              <a:rPr sz="1800" dirty="0">
                <a:latin typeface="Calibri"/>
                <a:cs typeface="Calibri"/>
              </a:rPr>
              <a:t> and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maximize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performance,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all</a:t>
            </a:r>
            <a:r>
              <a:rPr sz="1800" b="1" spc="-5" dirty="0">
                <a:latin typeface="Calibri"/>
                <a:cs typeface="Calibri"/>
              </a:rPr>
              <a:t> team members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must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feel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they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can </a:t>
            </a:r>
            <a:r>
              <a:rPr sz="1800" b="1" spc="-39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contribute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to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continuous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improvement.</a:t>
            </a:r>
            <a:endParaRPr sz="1800">
              <a:latin typeface="Calibri"/>
              <a:cs typeface="Calibri"/>
            </a:endParaRPr>
          </a:p>
          <a:p>
            <a:pPr marL="241300" marR="702310" indent="-228600">
              <a:lnSpc>
                <a:spcPts val="1939"/>
              </a:lnSpc>
              <a:spcBef>
                <a:spcPts val="1005"/>
              </a:spcBef>
              <a:buFont typeface="Wingdings"/>
              <a:buChar char=""/>
              <a:tabLst>
                <a:tab pos="241300" algn="l"/>
              </a:tabLst>
            </a:pP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outlined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toolkit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will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help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bring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multiple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findings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generate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meaningful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discussion;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however,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best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engagement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discussions</a:t>
            </a:r>
            <a:r>
              <a:rPr sz="1800" spc="-10" dirty="0">
                <a:latin typeface="Calibri"/>
                <a:cs typeface="Calibri"/>
              </a:rPr>
              <a:t> are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those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open,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encouraging,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two-way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ts val="2050"/>
              </a:lnSpc>
              <a:spcBef>
                <a:spcPts val="770"/>
              </a:spcBef>
              <a:buFont typeface="Wingdings"/>
              <a:buChar char=""/>
              <a:tabLst>
                <a:tab pos="241300" algn="l"/>
              </a:tabLst>
            </a:pPr>
            <a:r>
              <a:rPr sz="1800" spc="-10" dirty="0">
                <a:latin typeface="Calibri"/>
                <a:cs typeface="Calibri"/>
              </a:rPr>
              <a:t>Keep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mind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keep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teams’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action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plan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alive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during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year,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communicate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follow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up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regularly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team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0"/>
              </a:lnSpc>
            </a:pP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progress.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4300" y="3968496"/>
            <a:ext cx="3677411" cy="22082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0844" y="3265500"/>
            <a:ext cx="10166350" cy="1692910"/>
          </a:xfrm>
          <a:prstGeom prst="rect">
            <a:avLst/>
          </a:prstGeom>
        </p:spPr>
        <p:txBody>
          <a:bodyPr vert="horz" wrap="square" lIns="0" tIns="288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75"/>
              </a:spcBef>
            </a:pPr>
            <a:r>
              <a:rPr sz="6000" spc="-20" dirty="0">
                <a:latin typeface="Calibri Light"/>
                <a:cs typeface="Calibri Light"/>
              </a:rPr>
              <a:t>Step</a:t>
            </a:r>
            <a:r>
              <a:rPr sz="6000" spc="-95" dirty="0">
                <a:latin typeface="Calibri Light"/>
                <a:cs typeface="Calibri Light"/>
              </a:rPr>
              <a:t> </a:t>
            </a:r>
            <a:r>
              <a:rPr sz="6000" dirty="0">
                <a:latin typeface="Calibri Light"/>
                <a:cs typeface="Calibri Light"/>
              </a:rPr>
              <a:t>1:</a:t>
            </a:r>
            <a:endParaRPr sz="60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2400" spc="-10" dirty="0">
                <a:solidFill>
                  <a:srgbClr val="888888"/>
                </a:solidFill>
                <a:latin typeface="Calibri"/>
                <a:cs typeface="Calibri"/>
              </a:rPr>
              <a:t>Interpreting</a:t>
            </a:r>
            <a:r>
              <a:rPr sz="24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888888"/>
                </a:solidFill>
                <a:latin typeface="Calibri"/>
                <a:cs typeface="Calibri"/>
              </a:rPr>
              <a:t>the</a:t>
            </a:r>
            <a:r>
              <a:rPr sz="2400" spc="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888888"/>
                </a:solidFill>
                <a:latin typeface="Calibri"/>
                <a:cs typeface="Calibri"/>
              </a:rPr>
              <a:t>results </a:t>
            </a:r>
            <a:r>
              <a:rPr sz="2400" dirty="0">
                <a:solidFill>
                  <a:srgbClr val="888888"/>
                </a:solidFill>
                <a:latin typeface="Calibri"/>
                <a:cs typeface="Calibri"/>
              </a:rPr>
              <a:t>and </a:t>
            </a:r>
            <a:r>
              <a:rPr sz="2400" spc="-15" dirty="0">
                <a:solidFill>
                  <a:srgbClr val="888888"/>
                </a:solidFill>
                <a:latin typeface="Calibri"/>
                <a:cs typeface="Calibri"/>
              </a:rPr>
              <a:t>getting</a:t>
            </a:r>
            <a:r>
              <a:rPr sz="2400" spc="-2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888888"/>
                </a:solidFill>
                <a:latin typeface="Calibri"/>
                <a:cs typeface="Calibri"/>
              </a:rPr>
              <a:t>ready</a:t>
            </a:r>
            <a:r>
              <a:rPr sz="2400" spc="1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888888"/>
                </a:solidFill>
                <a:latin typeface="Calibri"/>
                <a:cs typeface="Calibri"/>
              </a:rPr>
              <a:t>for</a:t>
            </a:r>
            <a:r>
              <a:rPr sz="2400" spc="-1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888888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888888"/>
                </a:solidFill>
                <a:latin typeface="Calibri"/>
                <a:cs typeface="Calibri"/>
              </a:rPr>
              <a:t>discussion(</a:t>
            </a:r>
            <a:r>
              <a:rPr sz="240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888888"/>
                </a:solidFill>
                <a:latin typeface="Calibri"/>
                <a:cs typeface="Calibri"/>
              </a:rPr>
              <a:t>before</a:t>
            </a:r>
            <a:r>
              <a:rPr sz="2400" spc="1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888888"/>
                </a:solidFill>
                <a:latin typeface="Calibri"/>
                <a:cs typeface="Calibri"/>
              </a:rPr>
              <a:t>15-</a:t>
            </a:r>
            <a:r>
              <a:rPr sz="2400" spc="-10" dirty="0">
                <a:solidFill>
                  <a:srgbClr val="888888"/>
                </a:solidFill>
                <a:latin typeface="Calibri"/>
                <a:cs typeface="Calibri"/>
              </a:rPr>
              <a:t> Feb,</a:t>
            </a:r>
            <a:r>
              <a:rPr sz="240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888888"/>
                </a:solidFill>
                <a:latin typeface="Calibri"/>
                <a:cs typeface="Calibri"/>
              </a:rPr>
              <a:t>2023)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8985" cy="6858000"/>
            <a:chOff x="0" y="0"/>
            <a:chExt cx="1219898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159508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4027" y="4442459"/>
              <a:ext cx="1449323" cy="21610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49452" y="6603492"/>
              <a:ext cx="11243310" cy="0"/>
            </a:xfrm>
            <a:custGeom>
              <a:avLst/>
              <a:gdLst/>
              <a:ahLst/>
              <a:cxnLst/>
              <a:rect l="l" t="t" r="r" b="b"/>
              <a:pathLst>
                <a:path w="11243310">
                  <a:moveTo>
                    <a:pt x="0" y="0"/>
                  </a:moveTo>
                  <a:lnTo>
                    <a:pt x="11243056" y="0"/>
                  </a:lnTo>
                </a:path>
              </a:pathLst>
            </a:custGeom>
            <a:ln w="12700">
              <a:solidFill>
                <a:srgbClr val="0DD2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5950" y="1030986"/>
              <a:ext cx="717803" cy="7162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695950" y="1030986"/>
              <a:ext cx="718185" cy="716280"/>
            </a:xfrm>
            <a:custGeom>
              <a:avLst/>
              <a:gdLst/>
              <a:ahLst/>
              <a:cxnLst/>
              <a:rect l="l" t="t" r="r" b="b"/>
              <a:pathLst>
                <a:path w="718185" h="716280">
                  <a:moveTo>
                    <a:pt x="0" y="358139"/>
                  </a:moveTo>
                  <a:lnTo>
                    <a:pt x="3275" y="309554"/>
                  </a:lnTo>
                  <a:lnTo>
                    <a:pt x="12818" y="262951"/>
                  </a:lnTo>
                  <a:lnTo>
                    <a:pt x="28199" y="218759"/>
                  </a:lnTo>
                  <a:lnTo>
                    <a:pt x="48993" y="177404"/>
                  </a:lnTo>
                  <a:lnTo>
                    <a:pt x="74772" y="139315"/>
                  </a:lnTo>
                  <a:lnTo>
                    <a:pt x="105108" y="104917"/>
                  </a:lnTo>
                  <a:lnTo>
                    <a:pt x="139574" y="74640"/>
                  </a:lnTo>
                  <a:lnTo>
                    <a:pt x="177743" y="48909"/>
                  </a:lnTo>
                  <a:lnTo>
                    <a:pt x="219188" y="28152"/>
                  </a:lnTo>
                  <a:lnTo>
                    <a:pt x="263480" y="12797"/>
                  </a:lnTo>
                  <a:lnTo>
                    <a:pt x="310194" y="3270"/>
                  </a:lnTo>
                  <a:lnTo>
                    <a:pt x="358901" y="0"/>
                  </a:lnTo>
                  <a:lnTo>
                    <a:pt x="407609" y="3270"/>
                  </a:lnTo>
                  <a:lnTo>
                    <a:pt x="454323" y="12797"/>
                  </a:lnTo>
                  <a:lnTo>
                    <a:pt x="498615" y="28152"/>
                  </a:lnTo>
                  <a:lnTo>
                    <a:pt x="540060" y="48909"/>
                  </a:lnTo>
                  <a:lnTo>
                    <a:pt x="578229" y="74640"/>
                  </a:lnTo>
                  <a:lnTo>
                    <a:pt x="612695" y="104917"/>
                  </a:lnTo>
                  <a:lnTo>
                    <a:pt x="643031" y="139315"/>
                  </a:lnTo>
                  <a:lnTo>
                    <a:pt x="668810" y="177404"/>
                  </a:lnTo>
                  <a:lnTo>
                    <a:pt x="689604" y="218759"/>
                  </a:lnTo>
                  <a:lnTo>
                    <a:pt x="704985" y="262951"/>
                  </a:lnTo>
                  <a:lnTo>
                    <a:pt x="714528" y="309554"/>
                  </a:lnTo>
                  <a:lnTo>
                    <a:pt x="717803" y="358139"/>
                  </a:lnTo>
                  <a:lnTo>
                    <a:pt x="714528" y="406725"/>
                  </a:lnTo>
                  <a:lnTo>
                    <a:pt x="704985" y="453328"/>
                  </a:lnTo>
                  <a:lnTo>
                    <a:pt x="689604" y="497520"/>
                  </a:lnTo>
                  <a:lnTo>
                    <a:pt x="668810" y="538875"/>
                  </a:lnTo>
                  <a:lnTo>
                    <a:pt x="643031" y="576964"/>
                  </a:lnTo>
                  <a:lnTo>
                    <a:pt x="612695" y="611362"/>
                  </a:lnTo>
                  <a:lnTo>
                    <a:pt x="578229" y="641639"/>
                  </a:lnTo>
                  <a:lnTo>
                    <a:pt x="540060" y="667370"/>
                  </a:lnTo>
                  <a:lnTo>
                    <a:pt x="498615" y="688127"/>
                  </a:lnTo>
                  <a:lnTo>
                    <a:pt x="454323" y="703482"/>
                  </a:lnTo>
                  <a:lnTo>
                    <a:pt x="407609" y="713009"/>
                  </a:lnTo>
                  <a:lnTo>
                    <a:pt x="358901" y="716279"/>
                  </a:lnTo>
                  <a:lnTo>
                    <a:pt x="310194" y="713009"/>
                  </a:lnTo>
                  <a:lnTo>
                    <a:pt x="263480" y="703482"/>
                  </a:lnTo>
                  <a:lnTo>
                    <a:pt x="219188" y="688127"/>
                  </a:lnTo>
                  <a:lnTo>
                    <a:pt x="177743" y="667370"/>
                  </a:lnTo>
                  <a:lnTo>
                    <a:pt x="139574" y="641639"/>
                  </a:lnTo>
                  <a:lnTo>
                    <a:pt x="105108" y="611362"/>
                  </a:lnTo>
                  <a:lnTo>
                    <a:pt x="74772" y="576964"/>
                  </a:lnTo>
                  <a:lnTo>
                    <a:pt x="48993" y="538875"/>
                  </a:lnTo>
                  <a:lnTo>
                    <a:pt x="28199" y="497520"/>
                  </a:lnTo>
                  <a:lnTo>
                    <a:pt x="12818" y="453328"/>
                  </a:lnTo>
                  <a:lnTo>
                    <a:pt x="3275" y="406725"/>
                  </a:lnTo>
                  <a:lnTo>
                    <a:pt x="0" y="358139"/>
                  </a:lnTo>
                  <a:close/>
                </a:path>
              </a:pathLst>
            </a:custGeom>
            <a:ln w="31750">
              <a:solidFill>
                <a:srgbClr val="0DD2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52470" y="359409"/>
            <a:ext cx="6570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STEP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1: </a:t>
            </a:r>
            <a:r>
              <a:rPr sz="1800" b="1" dirty="0">
                <a:latin typeface="Arial"/>
                <a:cs typeface="Arial"/>
              </a:rPr>
              <a:t>INTERPRETING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RESULTS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(</a:t>
            </a:r>
            <a:r>
              <a:rPr sz="1600" b="1" spc="-5" dirty="0">
                <a:solidFill>
                  <a:srgbClr val="404040"/>
                </a:solidFill>
                <a:latin typeface="Arial"/>
                <a:cs typeface="Arial"/>
              </a:rPr>
              <a:t>before</a:t>
            </a:r>
            <a:r>
              <a:rPr sz="1600" b="1" spc="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404040"/>
                </a:solidFill>
                <a:latin typeface="Arial"/>
                <a:cs typeface="Arial"/>
              </a:rPr>
              <a:t>15th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404040"/>
                </a:solidFill>
                <a:latin typeface="Arial"/>
                <a:cs typeface="Arial"/>
              </a:rPr>
              <a:t>Feb,</a:t>
            </a:r>
            <a:r>
              <a:rPr sz="1600" b="1" spc="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404040"/>
                </a:solidFill>
                <a:latin typeface="Arial"/>
                <a:cs typeface="Arial"/>
              </a:rPr>
              <a:t>2023)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57442" y="118579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776086" y="2147442"/>
            <a:ext cx="748030" cy="749935"/>
            <a:chOff x="5776086" y="2147442"/>
            <a:chExt cx="748030" cy="74993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91961" y="2163317"/>
              <a:ext cx="716280" cy="71780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791961" y="2163317"/>
              <a:ext cx="716280" cy="718185"/>
            </a:xfrm>
            <a:custGeom>
              <a:avLst/>
              <a:gdLst/>
              <a:ahLst/>
              <a:cxnLst/>
              <a:rect l="l" t="t" r="r" b="b"/>
              <a:pathLst>
                <a:path w="716279" h="718185">
                  <a:moveTo>
                    <a:pt x="0" y="358902"/>
                  </a:moveTo>
                  <a:lnTo>
                    <a:pt x="3270" y="310194"/>
                  </a:lnTo>
                  <a:lnTo>
                    <a:pt x="12797" y="263480"/>
                  </a:lnTo>
                  <a:lnTo>
                    <a:pt x="28152" y="219188"/>
                  </a:lnTo>
                  <a:lnTo>
                    <a:pt x="48909" y="177743"/>
                  </a:lnTo>
                  <a:lnTo>
                    <a:pt x="74640" y="139574"/>
                  </a:lnTo>
                  <a:lnTo>
                    <a:pt x="104917" y="105108"/>
                  </a:lnTo>
                  <a:lnTo>
                    <a:pt x="139315" y="74772"/>
                  </a:lnTo>
                  <a:lnTo>
                    <a:pt x="177404" y="48993"/>
                  </a:lnTo>
                  <a:lnTo>
                    <a:pt x="218759" y="28199"/>
                  </a:lnTo>
                  <a:lnTo>
                    <a:pt x="262951" y="12818"/>
                  </a:lnTo>
                  <a:lnTo>
                    <a:pt x="309554" y="3275"/>
                  </a:lnTo>
                  <a:lnTo>
                    <a:pt x="358139" y="0"/>
                  </a:lnTo>
                  <a:lnTo>
                    <a:pt x="406725" y="3275"/>
                  </a:lnTo>
                  <a:lnTo>
                    <a:pt x="453328" y="12818"/>
                  </a:lnTo>
                  <a:lnTo>
                    <a:pt x="497520" y="28199"/>
                  </a:lnTo>
                  <a:lnTo>
                    <a:pt x="538875" y="48993"/>
                  </a:lnTo>
                  <a:lnTo>
                    <a:pt x="576964" y="74772"/>
                  </a:lnTo>
                  <a:lnTo>
                    <a:pt x="611362" y="105108"/>
                  </a:lnTo>
                  <a:lnTo>
                    <a:pt x="641639" y="139574"/>
                  </a:lnTo>
                  <a:lnTo>
                    <a:pt x="667370" y="177743"/>
                  </a:lnTo>
                  <a:lnTo>
                    <a:pt x="688127" y="219188"/>
                  </a:lnTo>
                  <a:lnTo>
                    <a:pt x="703482" y="263480"/>
                  </a:lnTo>
                  <a:lnTo>
                    <a:pt x="713009" y="310194"/>
                  </a:lnTo>
                  <a:lnTo>
                    <a:pt x="716280" y="358902"/>
                  </a:lnTo>
                  <a:lnTo>
                    <a:pt x="713009" y="407609"/>
                  </a:lnTo>
                  <a:lnTo>
                    <a:pt x="703482" y="454323"/>
                  </a:lnTo>
                  <a:lnTo>
                    <a:pt x="688127" y="498615"/>
                  </a:lnTo>
                  <a:lnTo>
                    <a:pt x="667370" y="540060"/>
                  </a:lnTo>
                  <a:lnTo>
                    <a:pt x="641639" y="578229"/>
                  </a:lnTo>
                  <a:lnTo>
                    <a:pt x="611362" y="612695"/>
                  </a:lnTo>
                  <a:lnTo>
                    <a:pt x="576964" y="643031"/>
                  </a:lnTo>
                  <a:lnTo>
                    <a:pt x="538875" y="668810"/>
                  </a:lnTo>
                  <a:lnTo>
                    <a:pt x="497520" y="689604"/>
                  </a:lnTo>
                  <a:lnTo>
                    <a:pt x="453328" y="704985"/>
                  </a:lnTo>
                  <a:lnTo>
                    <a:pt x="406725" y="714528"/>
                  </a:lnTo>
                  <a:lnTo>
                    <a:pt x="358139" y="717804"/>
                  </a:lnTo>
                  <a:lnTo>
                    <a:pt x="309554" y="714528"/>
                  </a:lnTo>
                  <a:lnTo>
                    <a:pt x="262951" y="704985"/>
                  </a:lnTo>
                  <a:lnTo>
                    <a:pt x="218759" y="689604"/>
                  </a:lnTo>
                  <a:lnTo>
                    <a:pt x="177404" y="668810"/>
                  </a:lnTo>
                  <a:lnTo>
                    <a:pt x="139315" y="643031"/>
                  </a:lnTo>
                  <a:lnTo>
                    <a:pt x="104917" y="612695"/>
                  </a:lnTo>
                  <a:lnTo>
                    <a:pt x="74640" y="578229"/>
                  </a:lnTo>
                  <a:lnTo>
                    <a:pt x="48909" y="540060"/>
                  </a:lnTo>
                  <a:lnTo>
                    <a:pt x="28152" y="498615"/>
                  </a:lnTo>
                  <a:lnTo>
                    <a:pt x="12797" y="454323"/>
                  </a:lnTo>
                  <a:lnTo>
                    <a:pt x="3270" y="407609"/>
                  </a:lnTo>
                  <a:lnTo>
                    <a:pt x="0" y="358902"/>
                  </a:lnTo>
                  <a:close/>
                </a:path>
              </a:pathLst>
            </a:custGeom>
            <a:ln w="31750">
              <a:solidFill>
                <a:srgbClr val="0DD2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052820" y="2319273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776086" y="3252342"/>
            <a:ext cx="748030" cy="749935"/>
            <a:chOff x="5776086" y="3252342"/>
            <a:chExt cx="748030" cy="74993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91961" y="3268217"/>
              <a:ext cx="716280" cy="71780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791961" y="3268217"/>
              <a:ext cx="716280" cy="718185"/>
            </a:xfrm>
            <a:custGeom>
              <a:avLst/>
              <a:gdLst/>
              <a:ahLst/>
              <a:cxnLst/>
              <a:rect l="l" t="t" r="r" b="b"/>
              <a:pathLst>
                <a:path w="716279" h="718185">
                  <a:moveTo>
                    <a:pt x="0" y="358902"/>
                  </a:moveTo>
                  <a:lnTo>
                    <a:pt x="3270" y="310194"/>
                  </a:lnTo>
                  <a:lnTo>
                    <a:pt x="12797" y="263480"/>
                  </a:lnTo>
                  <a:lnTo>
                    <a:pt x="28152" y="219188"/>
                  </a:lnTo>
                  <a:lnTo>
                    <a:pt x="48909" y="177743"/>
                  </a:lnTo>
                  <a:lnTo>
                    <a:pt x="74640" y="139574"/>
                  </a:lnTo>
                  <a:lnTo>
                    <a:pt x="104917" y="105108"/>
                  </a:lnTo>
                  <a:lnTo>
                    <a:pt x="139315" y="74772"/>
                  </a:lnTo>
                  <a:lnTo>
                    <a:pt x="177404" y="48993"/>
                  </a:lnTo>
                  <a:lnTo>
                    <a:pt x="218759" y="28199"/>
                  </a:lnTo>
                  <a:lnTo>
                    <a:pt x="262951" y="12818"/>
                  </a:lnTo>
                  <a:lnTo>
                    <a:pt x="309554" y="3275"/>
                  </a:lnTo>
                  <a:lnTo>
                    <a:pt x="358139" y="0"/>
                  </a:lnTo>
                  <a:lnTo>
                    <a:pt x="406725" y="3275"/>
                  </a:lnTo>
                  <a:lnTo>
                    <a:pt x="453328" y="12818"/>
                  </a:lnTo>
                  <a:lnTo>
                    <a:pt x="497520" y="28199"/>
                  </a:lnTo>
                  <a:lnTo>
                    <a:pt x="538875" y="48993"/>
                  </a:lnTo>
                  <a:lnTo>
                    <a:pt x="576964" y="74772"/>
                  </a:lnTo>
                  <a:lnTo>
                    <a:pt x="611362" y="105108"/>
                  </a:lnTo>
                  <a:lnTo>
                    <a:pt x="641639" y="139574"/>
                  </a:lnTo>
                  <a:lnTo>
                    <a:pt x="667370" y="177743"/>
                  </a:lnTo>
                  <a:lnTo>
                    <a:pt x="688127" y="219188"/>
                  </a:lnTo>
                  <a:lnTo>
                    <a:pt x="703482" y="263480"/>
                  </a:lnTo>
                  <a:lnTo>
                    <a:pt x="713009" y="310194"/>
                  </a:lnTo>
                  <a:lnTo>
                    <a:pt x="716280" y="358902"/>
                  </a:lnTo>
                  <a:lnTo>
                    <a:pt x="713009" y="407609"/>
                  </a:lnTo>
                  <a:lnTo>
                    <a:pt x="703482" y="454323"/>
                  </a:lnTo>
                  <a:lnTo>
                    <a:pt x="688127" y="498615"/>
                  </a:lnTo>
                  <a:lnTo>
                    <a:pt x="667370" y="540060"/>
                  </a:lnTo>
                  <a:lnTo>
                    <a:pt x="641639" y="578229"/>
                  </a:lnTo>
                  <a:lnTo>
                    <a:pt x="611362" y="612695"/>
                  </a:lnTo>
                  <a:lnTo>
                    <a:pt x="576964" y="643031"/>
                  </a:lnTo>
                  <a:lnTo>
                    <a:pt x="538875" y="668810"/>
                  </a:lnTo>
                  <a:lnTo>
                    <a:pt x="497520" y="689604"/>
                  </a:lnTo>
                  <a:lnTo>
                    <a:pt x="453328" y="704985"/>
                  </a:lnTo>
                  <a:lnTo>
                    <a:pt x="406725" y="714528"/>
                  </a:lnTo>
                  <a:lnTo>
                    <a:pt x="358139" y="717804"/>
                  </a:lnTo>
                  <a:lnTo>
                    <a:pt x="309554" y="714528"/>
                  </a:lnTo>
                  <a:lnTo>
                    <a:pt x="262951" y="704985"/>
                  </a:lnTo>
                  <a:lnTo>
                    <a:pt x="218759" y="689604"/>
                  </a:lnTo>
                  <a:lnTo>
                    <a:pt x="177404" y="668810"/>
                  </a:lnTo>
                  <a:lnTo>
                    <a:pt x="139315" y="643031"/>
                  </a:lnTo>
                  <a:lnTo>
                    <a:pt x="104917" y="612695"/>
                  </a:lnTo>
                  <a:lnTo>
                    <a:pt x="74640" y="578229"/>
                  </a:lnTo>
                  <a:lnTo>
                    <a:pt x="48909" y="540060"/>
                  </a:lnTo>
                  <a:lnTo>
                    <a:pt x="28152" y="498615"/>
                  </a:lnTo>
                  <a:lnTo>
                    <a:pt x="12797" y="454323"/>
                  </a:lnTo>
                  <a:lnTo>
                    <a:pt x="3270" y="407609"/>
                  </a:lnTo>
                  <a:lnTo>
                    <a:pt x="0" y="358902"/>
                  </a:lnTo>
                  <a:close/>
                </a:path>
              </a:pathLst>
            </a:custGeom>
            <a:ln w="31750">
              <a:solidFill>
                <a:srgbClr val="0DD2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052820" y="3423869"/>
            <a:ext cx="195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798946" y="4396866"/>
            <a:ext cx="749935" cy="749935"/>
            <a:chOff x="5798946" y="4396866"/>
            <a:chExt cx="749935" cy="749935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14821" y="4412741"/>
              <a:ext cx="717803" cy="71780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814821" y="4412741"/>
              <a:ext cx="718185" cy="718185"/>
            </a:xfrm>
            <a:custGeom>
              <a:avLst/>
              <a:gdLst/>
              <a:ahLst/>
              <a:cxnLst/>
              <a:rect l="l" t="t" r="r" b="b"/>
              <a:pathLst>
                <a:path w="718184" h="718185">
                  <a:moveTo>
                    <a:pt x="0" y="358901"/>
                  </a:moveTo>
                  <a:lnTo>
                    <a:pt x="3275" y="310194"/>
                  </a:lnTo>
                  <a:lnTo>
                    <a:pt x="12818" y="263480"/>
                  </a:lnTo>
                  <a:lnTo>
                    <a:pt x="28199" y="219188"/>
                  </a:lnTo>
                  <a:lnTo>
                    <a:pt x="48993" y="177743"/>
                  </a:lnTo>
                  <a:lnTo>
                    <a:pt x="74772" y="139574"/>
                  </a:lnTo>
                  <a:lnTo>
                    <a:pt x="105108" y="105108"/>
                  </a:lnTo>
                  <a:lnTo>
                    <a:pt x="139574" y="74772"/>
                  </a:lnTo>
                  <a:lnTo>
                    <a:pt x="177743" y="48993"/>
                  </a:lnTo>
                  <a:lnTo>
                    <a:pt x="219188" y="28199"/>
                  </a:lnTo>
                  <a:lnTo>
                    <a:pt x="263480" y="12818"/>
                  </a:lnTo>
                  <a:lnTo>
                    <a:pt x="310194" y="3275"/>
                  </a:lnTo>
                  <a:lnTo>
                    <a:pt x="358901" y="0"/>
                  </a:lnTo>
                  <a:lnTo>
                    <a:pt x="407609" y="3275"/>
                  </a:lnTo>
                  <a:lnTo>
                    <a:pt x="454323" y="12818"/>
                  </a:lnTo>
                  <a:lnTo>
                    <a:pt x="498615" y="28199"/>
                  </a:lnTo>
                  <a:lnTo>
                    <a:pt x="540060" y="48993"/>
                  </a:lnTo>
                  <a:lnTo>
                    <a:pt x="578229" y="74772"/>
                  </a:lnTo>
                  <a:lnTo>
                    <a:pt x="612695" y="105108"/>
                  </a:lnTo>
                  <a:lnTo>
                    <a:pt x="643031" y="139574"/>
                  </a:lnTo>
                  <a:lnTo>
                    <a:pt x="668810" y="177743"/>
                  </a:lnTo>
                  <a:lnTo>
                    <a:pt x="689604" y="219188"/>
                  </a:lnTo>
                  <a:lnTo>
                    <a:pt x="704985" y="263480"/>
                  </a:lnTo>
                  <a:lnTo>
                    <a:pt x="714528" y="310194"/>
                  </a:lnTo>
                  <a:lnTo>
                    <a:pt x="717803" y="358901"/>
                  </a:lnTo>
                  <a:lnTo>
                    <a:pt x="714528" y="407609"/>
                  </a:lnTo>
                  <a:lnTo>
                    <a:pt x="704985" y="454323"/>
                  </a:lnTo>
                  <a:lnTo>
                    <a:pt x="689604" y="498615"/>
                  </a:lnTo>
                  <a:lnTo>
                    <a:pt x="668810" y="540060"/>
                  </a:lnTo>
                  <a:lnTo>
                    <a:pt x="643031" y="578229"/>
                  </a:lnTo>
                  <a:lnTo>
                    <a:pt x="612695" y="612695"/>
                  </a:lnTo>
                  <a:lnTo>
                    <a:pt x="578229" y="643031"/>
                  </a:lnTo>
                  <a:lnTo>
                    <a:pt x="540060" y="668810"/>
                  </a:lnTo>
                  <a:lnTo>
                    <a:pt x="498615" y="689604"/>
                  </a:lnTo>
                  <a:lnTo>
                    <a:pt x="454323" y="704985"/>
                  </a:lnTo>
                  <a:lnTo>
                    <a:pt x="407609" y="714528"/>
                  </a:lnTo>
                  <a:lnTo>
                    <a:pt x="358901" y="717803"/>
                  </a:lnTo>
                  <a:lnTo>
                    <a:pt x="310194" y="714528"/>
                  </a:lnTo>
                  <a:lnTo>
                    <a:pt x="263480" y="704985"/>
                  </a:lnTo>
                  <a:lnTo>
                    <a:pt x="219188" y="689604"/>
                  </a:lnTo>
                  <a:lnTo>
                    <a:pt x="177743" y="668810"/>
                  </a:lnTo>
                  <a:lnTo>
                    <a:pt x="139574" y="643031"/>
                  </a:lnTo>
                  <a:lnTo>
                    <a:pt x="105108" y="612695"/>
                  </a:lnTo>
                  <a:lnTo>
                    <a:pt x="74772" y="578229"/>
                  </a:lnTo>
                  <a:lnTo>
                    <a:pt x="48993" y="540060"/>
                  </a:lnTo>
                  <a:lnTo>
                    <a:pt x="28199" y="498615"/>
                  </a:lnTo>
                  <a:lnTo>
                    <a:pt x="12818" y="454323"/>
                  </a:lnTo>
                  <a:lnTo>
                    <a:pt x="3275" y="407609"/>
                  </a:lnTo>
                  <a:lnTo>
                    <a:pt x="0" y="358901"/>
                  </a:lnTo>
                  <a:close/>
                </a:path>
              </a:pathLst>
            </a:custGeom>
            <a:ln w="31750">
              <a:solidFill>
                <a:srgbClr val="0DD2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075934" y="4568697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45020" y="1090040"/>
            <a:ext cx="47923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Start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by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going through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the dimension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scores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analyze your scores </a:t>
            </a:r>
            <a:r>
              <a:rPr sz="1200" spc="-50" dirty="0">
                <a:solidFill>
                  <a:srgbClr val="404040"/>
                </a:solidFill>
                <a:latin typeface="Calibri"/>
                <a:cs typeface="Calibri"/>
              </a:rPr>
              <a:t>w.r.t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404040"/>
                </a:solidFill>
                <a:latin typeface="Calibri"/>
                <a:cs typeface="Calibri"/>
              </a:rPr>
              <a:t>your </a:t>
            </a:r>
            <a:r>
              <a:rPr sz="1200" b="1" dirty="0">
                <a:solidFill>
                  <a:srgbClr val="404040"/>
                </a:solidFill>
                <a:latin typeface="Calibri"/>
                <a:cs typeface="Calibri"/>
              </a:rPr>
              <a:t>own </a:t>
            </a:r>
            <a:r>
              <a:rPr sz="1200" b="1" spc="-10" dirty="0">
                <a:solidFill>
                  <a:srgbClr val="404040"/>
                </a:solidFill>
                <a:latin typeface="Calibri"/>
                <a:cs typeface="Calibri"/>
              </a:rPr>
              <a:t>scores </a:t>
            </a:r>
            <a:r>
              <a:rPr sz="1200" b="1" spc="-5" dirty="0">
                <a:solidFill>
                  <a:srgbClr val="404040"/>
                </a:solidFill>
                <a:latin typeface="Calibri"/>
                <a:cs typeface="Calibri"/>
              </a:rPr>
              <a:t>from 2019 </a:t>
            </a:r>
            <a:r>
              <a:rPr sz="1200" b="1" dirty="0">
                <a:solidFill>
                  <a:srgbClr val="404040"/>
                </a:solidFill>
                <a:latin typeface="Calibri"/>
                <a:cs typeface="Calibri"/>
              </a:rPr>
              <a:t>till </a:t>
            </a:r>
            <a:r>
              <a:rPr sz="1200" b="1" spc="-10" dirty="0">
                <a:solidFill>
                  <a:srgbClr val="404040"/>
                </a:solidFill>
                <a:latin typeface="Calibri"/>
                <a:cs typeface="Calibri"/>
              </a:rPr>
              <a:t>date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. </a:t>
            </a:r>
            <a:r>
              <a:rPr sz="1200" spc="-35" dirty="0">
                <a:solidFill>
                  <a:srgbClr val="404040"/>
                </a:solidFill>
                <a:latin typeface="Calibri"/>
                <a:cs typeface="Calibri"/>
              </a:rPr>
              <a:t>You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may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also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compare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your scores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with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regards</a:t>
            </a:r>
            <a:r>
              <a:rPr sz="1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Group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overall</a:t>
            </a:r>
            <a:r>
              <a:rPr sz="12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scores</a:t>
            </a:r>
            <a:r>
              <a:rPr sz="12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2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 external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benchmark</a:t>
            </a:r>
            <a:r>
              <a:rPr sz="1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provided.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45020" y="2315032"/>
            <a:ext cx="4886325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1200" spc="2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may</a:t>
            </a:r>
            <a:r>
              <a:rPr sz="1200" spc="20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also</a:t>
            </a:r>
            <a:r>
              <a:rPr sz="1200" spc="20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404040"/>
                </a:solidFill>
                <a:latin typeface="Calibri"/>
                <a:cs typeface="Calibri"/>
              </a:rPr>
              <a:t>slice</a:t>
            </a:r>
            <a:r>
              <a:rPr sz="1200" b="1" spc="1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200" b="1" spc="2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1200" b="1" spc="20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1200" b="1" spc="2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404040"/>
                </a:solidFill>
                <a:latin typeface="Calibri"/>
                <a:cs typeface="Calibri"/>
              </a:rPr>
              <a:t>various</a:t>
            </a:r>
            <a:r>
              <a:rPr sz="1200" b="1" spc="2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404040"/>
                </a:solidFill>
                <a:latin typeface="Calibri"/>
                <a:cs typeface="Calibri"/>
              </a:rPr>
              <a:t>cuts</a:t>
            </a:r>
            <a:r>
              <a:rPr sz="1200" b="1" spc="2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such</a:t>
            </a:r>
            <a:r>
              <a:rPr sz="1200" spc="2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1200" spc="2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404040"/>
                </a:solidFill>
                <a:latin typeface="Calibri"/>
                <a:cs typeface="Calibri"/>
              </a:rPr>
              <a:t>gender,</a:t>
            </a:r>
            <a:r>
              <a:rPr sz="1200" spc="20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age</a:t>
            </a:r>
            <a:r>
              <a:rPr sz="1200" spc="2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groups,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countries,</a:t>
            </a:r>
            <a:r>
              <a:rPr sz="1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brands</a:t>
            </a:r>
            <a:r>
              <a:rPr sz="1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etc.</a:t>
            </a:r>
            <a:r>
              <a:rPr sz="12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 get</a:t>
            </a:r>
            <a:r>
              <a:rPr sz="12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granular</a:t>
            </a:r>
            <a:r>
              <a:rPr sz="1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your</a:t>
            </a:r>
            <a:r>
              <a:rPr sz="1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analysis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692010" y="3179190"/>
            <a:ext cx="47936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b="1" spc="-35" dirty="0">
                <a:solidFill>
                  <a:srgbClr val="404040"/>
                </a:solidFill>
                <a:latin typeface="Calibri"/>
                <a:cs typeface="Calibri"/>
              </a:rPr>
              <a:t>Top</a:t>
            </a:r>
            <a:r>
              <a:rPr sz="1200" b="1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4040"/>
                </a:solidFill>
                <a:latin typeface="Calibri"/>
                <a:cs typeface="Calibri"/>
              </a:rPr>
              <a:t>10</a:t>
            </a:r>
            <a:r>
              <a:rPr sz="1200" b="1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04040"/>
                </a:solidFill>
                <a:latin typeface="Calibri"/>
                <a:cs typeface="Calibri"/>
              </a:rPr>
              <a:t>statements</a:t>
            </a:r>
            <a:r>
              <a:rPr sz="1200" b="1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help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understand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your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 areas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 of</a:t>
            </a:r>
            <a:r>
              <a:rPr sz="12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great</a:t>
            </a:r>
            <a:r>
              <a:rPr sz="1200" spc="2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work</a:t>
            </a:r>
            <a:r>
              <a:rPr sz="1200" spc="2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404040"/>
                </a:solidFill>
                <a:latin typeface="Calibri"/>
                <a:cs typeface="Calibri"/>
              </a:rPr>
              <a:t>bottom</a:t>
            </a:r>
            <a:r>
              <a:rPr sz="1200" b="1" spc="1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4040"/>
                </a:solidFill>
                <a:latin typeface="Calibri"/>
                <a:cs typeface="Calibri"/>
              </a:rPr>
              <a:t>10</a:t>
            </a:r>
            <a:r>
              <a:rPr sz="1200" b="1" spc="1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04040"/>
                </a:solidFill>
                <a:latin typeface="Calibri"/>
                <a:cs typeface="Calibri"/>
              </a:rPr>
              <a:t>statements</a:t>
            </a:r>
            <a:r>
              <a:rPr sz="1200" b="1" spc="1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signify</a:t>
            </a:r>
            <a:r>
              <a:rPr sz="1200" spc="1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areas</a:t>
            </a:r>
            <a:r>
              <a:rPr sz="1200" spc="1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where</a:t>
            </a:r>
            <a:r>
              <a:rPr sz="1200" spc="1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1200" spc="1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may</a:t>
            </a:r>
            <a:r>
              <a:rPr sz="1200" spc="1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need</a:t>
            </a:r>
            <a:r>
              <a:rPr sz="1200" spc="1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200" spc="1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start</a:t>
            </a:r>
            <a:r>
              <a:rPr sz="1200" spc="1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putting </a:t>
            </a:r>
            <a:r>
              <a:rPr sz="1200" spc="-2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your</a:t>
            </a:r>
            <a:r>
              <a:rPr sz="1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focus.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92010" y="3910406"/>
            <a:ext cx="47929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1200" spc="2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may</a:t>
            </a:r>
            <a:r>
              <a:rPr sz="1200" spc="2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use  </a:t>
            </a:r>
            <a:r>
              <a:rPr sz="1200" b="1" spc="-5" dirty="0">
                <a:solidFill>
                  <a:srgbClr val="404040"/>
                </a:solidFill>
                <a:latin typeface="Calibri"/>
                <a:cs typeface="Calibri"/>
              </a:rPr>
              <a:t>delta</a:t>
            </a:r>
            <a:r>
              <a:rPr sz="1200" b="1" spc="2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1200" b="1" spc="25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404040"/>
                </a:solidFill>
                <a:latin typeface="Calibri"/>
                <a:cs typeface="Calibri"/>
              </a:rPr>
              <a:t>previous  </a:t>
            </a:r>
            <a:r>
              <a:rPr sz="1200" b="1" spc="-15" dirty="0">
                <a:solidFill>
                  <a:srgbClr val="404040"/>
                </a:solidFill>
                <a:latin typeface="Calibri"/>
                <a:cs typeface="Calibri"/>
              </a:rPr>
              <a:t>year</a:t>
            </a:r>
            <a:r>
              <a:rPr sz="1200" b="1" spc="2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1200" b="1" spc="2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04040"/>
                </a:solidFill>
                <a:latin typeface="Calibri"/>
                <a:cs typeface="Calibri"/>
              </a:rPr>
              <a:t>group</a:t>
            </a:r>
            <a:r>
              <a:rPr sz="1200" b="1" spc="2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spc="-15" dirty="0">
                <a:solidFill>
                  <a:srgbClr val="404040"/>
                </a:solidFill>
                <a:latin typeface="Calibri"/>
                <a:cs typeface="Calibri"/>
              </a:rPr>
              <a:t>average</a:t>
            </a:r>
            <a:r>
              <a:rPr sz="1200" b="1" spc="2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404040"/>
                </a:solidFill>
                <a:latin typeface="Calibri"/>
                <a:cs typeface="Calibri"/>
              </a:rPr>
              <a:t>scores,</a:t>
            </a:r>
            <a:r>
              <a:rPr sz="1200" b="1" spc="2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1200" b="1" spc="2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solidFill>
                  <a:srgbClr val="404040"/>
                </a:solidFill>
                <a:latin typeface="Calibri"/>
                <a:cs typeface="Calibri"/>
              </a:rPr>
              <a:t>individual</a:t>
            </a:r>
            <a:r>
              <a:rPr sz="1200" b="1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404040"/>
                </a:solidFill>
                <a:latin typeface="Calibri"/>
                <a:cs typeface="Calibri"/>
              </a:rPr>
              <a:t>questions,</a:t>
            </a:r>
            <a:r>
              <a:rPr sz="1200" b="1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200" b="1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04040"/>
                </a:solidFill>
                <a:latin typeface="Calibri"/>
                <a:cs typeface="Calibri"/>
              </a:rPr>
              <a:t>gain</a:t>
            </a:r>
            <a:r>
              <a:rPr sz="1200" b="1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1200" b="1" spc="-5" dirty="0">
                <a:solidFill>
                  <a:srgbClr val="404040"/>
                </a:solidFill>
                <a:latin typeface="Calibri"/>
                <a:cs typeface="Calibri"/>
              </a:rPr>
              <a:t>deeper</a:t>
            </a:r>
            <a:r>
              <a:rPr sz="1200" b="1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404040"/>
                </a:solidFill>
                <a:latin typeface="Calibri"/>
                <a:cs typeface="Calibri"/>
              </a:rPr>
              <a:t>understanding.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576351" y="1624457"/>
          <a:ext cx="3949700" cy="14833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90%</a:t>
                      </a:r>
                      <a:r>
                        <a:rPr sz="12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2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Above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20" dirty="0">
                          <a:latin typeface="Arial"/>
                          <a:cs typeface="Arial"/>
                        </a:rPr>
                        <a:t>Very</a:t>
                      </a:r>
                      <a:r>
                        <a:rPr sz="12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Favorable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D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80-89%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DF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Favorable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70-79%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Moderate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Below</a:t>
                      </a:r>
                      <a:r>
                        <a:rPr sz="12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70%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DF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Unfavorable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>
            <a:off x="6778497" y="4508119"/>
            <a:ext cx="49269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All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color shadings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on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the dashboard and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heat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maps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are relative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to the Group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scores.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more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negative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deviation the </a:t>
            </a:r>
            <a:r>
              <a:rPr sz="1200" spc="-5" dirty="0">
                <a:solidFill>
                  <a:srgbClr val="FF0000"/>
                </a:solidFill>
                <a:latin typeface="Calibri"/>
                <a:cs typeface="Calibri"/>
              </a:rPr>
              <a:t>color </a:t>
            </a: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tone </a:t>
            </a:r>
            <a:r>
              <a:rPr sz="1200" spc="-5" dirty="0">
                <a:solidFill>
                  <a:srgbClr val="FF0000"/>
                </a:solidFill>
                <a:latin typeface="Calibri"/>
                <a:cs typeface="Calibri"/>
              </a:rPr>
              <a:t>turns </a:t>
            </a: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red </a:t>
            </a:r>
            <a:r>
              <a:rPr sz="1200" spc="-5" dirty="0">
                <a:solidFill>
                  <a:srgbClr val="FF0000"/>
                </a:solidFill>
                <a:latin typeface="Calibri"/>
                <a:cs typeface="Calibri"/>
              </a:rPr>
              <a:t>and shades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of </a:t>
            </a: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red </a:t>
            </a:r>
            <a:r>
              <a:rPr sz="12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and with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more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positive deviations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1200" spc="-5" dirty="0">
                <a:solidFill>
                  <a:srgbClr val="00AF50"/>
                </a:solidFill>
                <a:latin typeface="Calibri"/>
                <a:cs typeface="Calibri"/>
              </a:rPr>
              <a:t>color </a:t>
            </a:r>
            <a:r>
              <a:rPr sz="1200" spc="-10" dirty="0">
                <a:solidFill>
                  <a:srgbClr val="00AF50"/>
                </a:solidFill>
                <a:latin typeface="Calibri"/>
                <a:cs typeface="Calibri"/>
              </a:rPr>
              <a:t>tone </a:t>
            </a:r>
            <a:r>
              <a:rPr sz="1200" spc="-5" dirty="0">
                <a:solidFill>
                  <a:srgbClr val="00AF50"/>
                </a:solidFill>
                <a:latin typeface="Calibri"/>
                <a:cs typeface="Calibri"/>
              </a:rPr>
              <a:t>turns </a:t>
            </a:r>
            <a:r>
              <a:rPr sz="1200" spc="-10" dirty="0">
                <a:solidFill>
                  <a:srgbClr val="00AF50"/>
                </a:solidFill>
                <a:latin typeface="Calibri"/>
                <a:cs typeface="Calibri"/>
              </a:rPr>
              <a:t>green and </a:t>
            </a:r>
            <a:r>
              <a:rPr sz="1200" spc="-5" dirty="0">
                <a:solidFill>
                  <a:srgbClr val="00AF50"/>
                </a:solidFill>
                <a:latin typeface="Calibri"/>
                <a:cs typeface="Calibri"/>
              </a:rPr>
              <a:t>shades </a:t>
            </a:r>
            <a:r>
              <a:rPr sz="1200" dirty="0">
                <a:solidFill>
                  <a:srgbClr val="00AF50"/>
                </a:solidFill>
                <a:latin typeface="Calibri"/>
                <a:cs typeface="Calibri"/>
              </a:rPr>
              <a:t>of </a:t>
            </a:r>
            <a:r>
              <a:rPr sz="1200" spc="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AF50"/>
                </a:solidFill>
                <a:latin typeface="Calibri"/>
                <a:cs typeface="Calibri"/>
              </a:rPr>
              <a:t>green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715243" y="6513574"/>
            <a:ext cx="1277111" cy="2651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0844" y="3265500"/>
            <a:ext cx="6671945" cy="1692910"/>
          </a:xfrm>
          <a:prstGeom prst="rect">
            <a:avLst/>
          </a:prstGeom>
        </p:spPr>
        <p:txBody>
          <a:bodyPr vert="horz" wrap="square" lIns="0" tIns="288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75"/>
              </a:spcBef>
            </a:pPr>
            <a:r>
              <a:rPr sz="6000" spc="-20" dirty="0">
                <a:latin typeface="Calibri Light"/>
                <a:cs typeface="Calibri Light"/>
              </a:rPr>
              <a:t>Step</a:t>
            </a:r>
            <a:r>
              <a:rPr sz="6000" spc="-25" dirty="0">
                <a:latin typeface="Calibri Light"/>
                <a:cs typeface="Calibri Light"/>
              </a:rPr>
              <a:t> </a:t>
            </a:r>
            <a:r>
              <a:rPr sz="6000" dirty="0">
                <a:latin typeface="Calibri Light"/>
                <a:cs typeface="Calibri Light"/>
              </a:rPr>
              <a:t>2:</a:t>
            </a:r>
            <a:r>
              <a:rPr sz="6000" spc="-15" dirty="0">
                <a:latin typeface="Calibri Light"/>
                <a:cs typeface="Calibri Light"/>
              </a:rPr>
              <a:t> </a:t>
            </a:r>
            <a:r>
              <a:rPr sz="6000" spc="-5" dirty="0">
                <a:latin typeface="Calibri Light"/>
                <a:cs typeface="Calibri Light"/>
              </a:rPr>
              <a:t>Self</a:t>
            </a:r>
            <a:r>
              <a:rPr sz="6000" spc="-15" dirty="0">
                <a:latin typeface="Calibri Light"/>
                <a:cs typeface="Calibri Light"/>
              </a:rPr>
              <a:t> </a:t>
            </a:r>
            <a:r>
              <a:rPr sz="6000" spc="-25" dirty="0">
                <a:latin typeface="Calibri Light"/>
                <a:cs typeface="Calibri Light"/>
              </a:rPr>
              <a:t>Reflection</a:t>
            </a:r>
            <a:endParaRPr sz="60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2400" spc="-10" dirty="0">
                <a:solidFill>
                  <a:srgbClr val="888888"/>
                </a:solidFill>
                <a:latin typeface="Calibri"/>
                <a:cs typeface="Calibri"/>
              </a:rPr>
              <a:t>QUESTIONS </a:t>
            </a:r>
            <a:r>
              <a:rPr sz="2400" spc="-40" dirty="0">
                <a:solidFill>
                  <a:srgbClr val="888888"/>
                </a:solidFill>
                <a:latin typeface="Calibri"/>
                <a:cs typeface="Calibri"/>
              </a:rPr>
              <a:t>TO</a:t>
            </a:r>
            <a:r>
              <a:rPr sz="2400" spc="-1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888888"/>
                </a:solidFill>
                <a:latin typeface="Calibri"/>
                <a:cs typeface="Calibri"/>
              </a:rPr>
              <a:t>CONSIDER</a:t>
            </a:r>
            <a:r>
              <a:rPr sz="2400" spc="-2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888888"/>
                </a:solidFill>
                <a:latin typeface="Calibri"/>
                <a:cs typeface="Calibri"/>
              </a:rPr>
              <a:t>FOR</a:t>
            </a:r>
            <a:r>
              <a:rPr sz="24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888888"/>
                </a:solidFill>
                <a:latin typeface="Calibri"/>
                <a:cs typeface="Calibri"/>
              </a:rPr>
              <a:t>SELF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55133" y="574675"/>
            <a:ext cx="1599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/>
              <a:t>SE</a:t>
            </a:r>
            <a:r>
              <a:rPr sz="1800" spc="-15" dirty="0"/>
              <a:t>L</a:t>
            </a:r>
            <a:r>
              <a:rPr sz="1800" dirty="0"/>
              <a:t>F</a:t>
            </a:r>
            <a:r>
              <a:rPr sz="1800" spc="-60" dirty="0"/>
              <a:t> </a:t>
            </a:r>
            <a:r>
              <a:rPr sz="1800" spc="-5" dirty="0"/>
              <a:t>RE</a:t>
            </a:r>
            <a:r>
              <a:rPr sz="1800" spc="-15" dirty="0"/>
              <a:t>F</a:t>
            </a:r>
            <a:r>
              <a:rPr sz="1800" spc="-25" dirty="0"/>
              <a:t>L</a:t>
            </a:r>
            <a:r>
              <a:rPr sz="1800" spc="-30" dirty="0"/>
              <a:t>E</a:t>
            </a:r>
            <a:r>
              <a:rPr sz="1800" spc="-15" dirty="0"/>
              <a:t>C</a:t>
            </a:r>
            <a:r>
              <a:rPr sz="1800" spc="-20" dirty="0"/>
              <a:t>T</a:t>
            </a:r>
            <a:r>
              <a:rPr sz="1800" spc="-10" dirty="0"/>
              <a:t>I</a:t>
            </a:r>
            <a:r>
              <a:rPr sz="1800" spc="-15" dirty="0"/>
              <a:t>O</a:t>
            </a:r>
            <a:r>
              <a:rPr sz="1800" dirty="0"/>
              <a:t>N</a:t>
            </a:r>
            <a:endParaRPr sz="1800"/>
          </a:p>
        </p:txBody>
      </p:sp>
      <p:sp>
        <p:nvSpPr>
          <p:cNvPr id="3" name="object 3"/>
          <p:cNvSpPr/>
          <p:nvPr/>
        </p:nvSpPr>
        <p:spPr>
          <a:xfrm>
            <a:off x="752855" y="1709927"/>
            <a:ext cx="11049000" cy="4247515"/>
          </a:xfrm>
          <a:custGeom>
            <a:avLst/>
            <a:gdLst/>
            <a:ahLst/>
            <a:cxnLst/>
            <a:rect l="l" t="t" r="r" b="b"/>
            <a:pathLst>
              <a:path w="11049000" h="4247515">
                <a:moveTo>
                  <a:pt x="11049000" y="0"/>
                </a:moveTo>
                <a:lnTo>
                  <a:pt x="0" y="0"/>
                </a:lnTo>
                <a:lnTo>
                  <a:pt x="0" y="4247388"/>
                </a:lnTo>
                <a:lnTo>
                  <a:pt x="11049000" y="4247388"/>
                </a:lnTo>
                <a:lnTo>
                  <a:pt x="11049000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31291" y="1728978"/>
            <a:ext cx="9375140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ASK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YOURSELF: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800" spc="-10" dirty="0">
                <a:latin typeface="Calibri"/>
                <a:cs typeface="Calibri"/>
              </a:rPr>
              <a:t>How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am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 </a:t>
            </a:r>
            <a:r>
              <a:rPr sz="1800" spc="-10" dirty="0">
                <a:latin typeface="Calibri"/>
                <a:cs typeface="Calibri"/>
              </a:rPr>
              <a:t>feeling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about </a:t>
            </a:r>
            <a:r>
              <a:rPr sz="1800" spc="-20" dirty="0">
                <a:latin typeface="Calibri"/>
                <a:cs typeface="Calibri"/>
              </a:rPr>
              <a:t>my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team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results?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 </a:t>
            </a:r>
            <a:r>
              <a:rPr sz="1800" spc="-10" dirty="0">
                <a:latin typeface="Calibri"/>
                <a:cs typeface="Calibri"/>
              </a:rPr>
              <a:t>coming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 a</a:t>
            </a:r>
            <a:r>
              <a:rPr sz="1800" spc="-5" dirty="0">
                <a:latin typeface="Calibri"/>
                <a:cs typeface="Calibri"/>
              </a:rPr>
              <a:t> shock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was</a:t>
            </a:r>
            <a:r>
              <a:rPr sz="1800" dirty="0">
                <a:latin typeface="Calibri"/>
                <a:cs typeface="Calibri"/>
              </a:rPr>
              <a:t> I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expecting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them?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results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reflective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where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have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put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efforts</a:t>
            </a:r>
            <a:r>
              <a:rPr sz="1800" spc="-10" dirty="0">
                <a:latin typeface="Calibri"/>
                <a:cs typeface="Calibri"/>
              </a:rPr>
              <a:t> last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year?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800" spc="-5" dirty="0">
                <a:latin typeface="Calibri"/>
                <a:cs typeface="Calibri"/>
              </a:rPr>
              <a:t>Did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discuss action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plan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areas </a:t>
            </a:r>
            <a:r>
              <a:rPr sz="1800" spc="-5" dirty="0">
                <a:latin typeface="Calibri"/>
                <a:cs typeface="Calibri"/>
              </a:rPr>
              <a:t>with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team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last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year?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800" spc="-10" dirty="0">
                <a:latin typeface="Calibri"/>
                <a:cs typeface="Calibri"/>
              </a:rPr>
              <a:t>How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were</a:t>
            </a:r>
            <a:r>
              <a:rPr sz="1800" spc="-5" dirty="0">
                <a:latin typeface="Calibri"/>
                <a:cs typeface="Calibri"/>
              </a:rPr>
              <a:t> accomplishments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communicated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 employees?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800" spc="-5" dirty="0">
                <a:latin typeface="Calibri"/>
                <a:cs typeface="Calibri"/>
              </a:rPr>
              <a:t>What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accomplishments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deserve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recognition?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800" spc="-5" dirty="0">
                <a:latin typeface="Calibri"/>
                <a:cs typeface="Calibri"/>
              </a:rPr>
              <a:t>What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story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 am </a:t>
            </a:r>
            <a:r>
              <a:rPr sz="1800" spc="-10" dirty="0">
                <a:latin typeface="Calibri"/>
                <a:cs typeface="Calibri"/>
              </a:rPr>
              <a:t>telling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myself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about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team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results?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Am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taking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results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personally?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800" spc="-5" dirty="0">
                <a:latin typeface="Calibri"/>
                <a:cs typeface="Calibri"/>
              </a:rPr>
              <a:t>What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myself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into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right headspace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drive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constructive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conversation?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ASK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YOUR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TEAM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If it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helps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you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to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reflect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better):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800" spc="-5" dirty="0">
                <a:latin typeface="Calibri"/>
                <a:cs typeface="Calibri"/>
              </a:rPr>
              <a:t>What do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need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from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 </a:t>
            </a:r>
            <a:r>
              <a:rPr sz="1800" spc="-10" dirty="0">
                <a:latin typeface="Calibri"/>
                <a:cs typeface="Calibri"/>
              </a:rPr>
              <a:t>more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successful?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800" spc="-5" dirty="0">
                <a:latin typeface="Calibri"/>
                <a:cs typeface="Calibri"/>
              </a:rPr>
              <a:t>What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ways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important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decisions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could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 </a:t>
            </a:r>
            <a:r>
              <a:rPr sz="1800" spc="-10" dirty="0">
                <a:latin typeface="Calibri"/>
                <a:cs typeface="Calibri"/>
              </a:rPr>
              <a:t>communicated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more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effectively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 you?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800" spc="-5" dirty="0">
                <a:latin typeface="Calibri"/>
                <a:cs typeface="Calibri"/>
              </a:rPr>
              <a:t>What </a:t>
            </a:r>
            <a:r>
              <a:rPr sz="1800" spc="-10" dirty="0">
                <a:latin typeface="Calibri"/>
                <a:cs typeface="Calibri"/>
              </a:rPr>
              <a:t>can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 provide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better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feedback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39200" y="89915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0844" y="3331481"/>
            <a:ext cx="7362825" cy="1600200"/>
          </a:xfrm>
          <a:prstGeom prst="rect">
            <a:avLst/>
          </a:prstGeom>
        </p:spPr>
        <p:txBody>
          <a:bodyPr vert="horz" wrap="square" lIns="0" tIns="222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5"/>
              </a:spcBef>
            </a:pPr>
            <a:r>
              <a:rPr sz="6000" spc="-20" dirty="0">
                <a:latin typeface="Calibri Light"/>
                <a:cs typeface="Calibri Light"/>
              </a:rPr>
              <a:t>Step</a:t>
            </a:r>
            <a:r>
              <a:rPr sz="6000" spc="-95" dirty="0">
                <a:latin typeface="Calibri Light"/>
                <a:cs typeface="Calibri Light"/>
              </a:rPr>
              <a:t> </a:t>
            </a:r>
            <a:r>
              <a:rPr sz="6000" dirty="0">
                <a:latin typeface="Calibri Light"/>
                <a:cs typeface="Calibri Light"/>
              </a:rPr>
              <a:t>3:</a:t>
            </a:r>
            <a:endParaRPr sz="6000">
              <a:latin typeface="Calibri Light"/>
              <a:cs typeface="Calibri Light"/>
            </a:endParaRPr>
          </a:p>
          <a:p>
            <a:pPr marL="24765">
              <a:lnSpc>
                <a:spcPct val="100000"/>
              </a:lnSpc>
              <a:spcBef>
                <a:spcPts val="660"/>
              </a:spcBef>
            </a:pPr>
            <a:r>
              <a:rPr sz="2400" spc="-10" dirty="0">
                <a:solidFill>
                  <a:srgbClr val="888888"/>
                </a:solidFill>
                <a:latin typeface="Calibri"/>
                <a:cs typeface="Calibri"/>
              </a:rPr>
              <a:t>Getting</a:t>
            </a:r>
            <a:r>
              <a:rPr sz="24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888888"/>
                </a:solidFill>
                <a:latin typeface="Calibri"/>
                <a:cs typeface="Calibri"/>
              </a:rPr>
              <a:t>ready</a:t>
            </a:r>
            <a:r>
              <a:rPr sz="24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888888"/>
                </a:solidFill>
                <a:latin typeface="Calibri"/>
                <a:cs typeface="Calibri"/>
              </a:rPr>
              <a:t>for</a:t>
            </a:r>
            <a:r>
              <a:rPr sz="2400" spc="-1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888888"/>
                </a:solidFill>
                <a:latin typeface="Calibri"/>
                <a:cs typeface="Calibri"/>
              </a:rPr>
              <a:t>this</a:t>
            </a:r>
            <a:r>
              <a:rPr sz="24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888888"/>
                </a:solidFill>
                <a:latin typeface="Calibri"/>
                <a:cs typeface="Calibri"/>
              </a:rPr>
              <a:t>discussion( </a:t>
            </a:r>
            <a:r>
              <a:rPr sz="2400" spc="-10" dirty="0">
                <a:solidFill>
                  <a:srgbClr val="888888"/>
                </a:solidFill>
                <a:latin typeface="Calibri"/>
                <a:cs typeface="Calibri"/>
              </a:rPr>
              <a:t>between </a:t>
            </a:r>
            <a:r>
              <a:rPr sz="2400" spc="-5" dirty="0">
                <a:solidFill>
                  <a:srgbClr val="888888"/>
                </a:solidFill>
                <a:latin typeface="Calibri"/>
                <a:cs typeface="Calibri"/>
              </a:rPr>
              <a:t>Feb-</a:t>
            </a:r>
            <a:r>
              <a:rPr sz="2400" spc="-1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888888"/>
                </a:solidFill>
                <a:latin typeface="Calibri"/>
                <a:cs typeface="Calibri"/>
              </a:rPr>
              <a:t>mid</a:t>
            </a:r>
            <a:r>
              <a:rPr sz="2400" spc="-1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888888"/>
                </a:solidFill>
                <a:latin typeface="Calibri"/>
                <a:cs typeface="Calibri"/>
              </a:rPr>
              <a:t>March)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0"/>
            <a:ext cx="1267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 Light"/>
                <a:cs typeface="Calibri Light"/>
              </a:rPr>
              <a:t>Sa</a:t>
            </a:r>
            <a:r>
              <a:rPr sz="1600" spc="-20" dirty="0">
                <a:latin typeface="Calibri Light"/>
                <a:cs typeface="Calibri Light"/>
              </a:rPr>
              <a:t>mp</a:t>
            </a:r>
            <a:r>
              <a:rPr sz="1600" spc="-5" dirty="0">
                <a:latin typeface="Calibri Light"/>
                <a:cs typeface="Calibri Light"/>
              </a:rPr>
              <a:t>le</a:t>
            </a:r>
            <a:r>
              <a:rPr sz="1600" spc="-65" dirty="0">
                <a:latin typeface="Calibri Light"/>
                <a:cs typeface="Calibri Light"/>
              </a:rPr>
              <a:t> </a:t>
            </a:r>
            <a:r>
              <a:rPr sz="1600" spc="-10" dirty="0">
                <a:latin typeface="Calibri Light"/>
                <a:cs typeface="Calibri Light"/>
              </a:rPr>
              <a:t>A</a:t>
            </a:r>
            <a:r>
              <a:rPr sz="1600" spc="-25" dirty="0">
                <a:latin typeface="Calibri Light"/>
                <a:cs typeface="Calibri Light"/>
              </a:rPr>
              <a:t>g</a:t>
            </a:r>
            <a:r>
              <a:rPr sz="1600" spc="-15" dirty="0">
                <a:latin typeface="Calibri Light"/>
                <a:cs typeface="Calibri Light"/>
              </a:rPr>
              <a:t>e</a:t>
            </a:r>
            <a:r>
              <a:rPr sz="1600" spc="-20" dirty="0">
                <a:latin typeface="Calibri Light"/>
                <a:cs typeface="Calibri Light"/>
              </a:rPr>
              <a:t>nd</a:t>
            </a:r>
            <a:r>
              <a:rPr sz="1600" spc="-5" dirty="0">
                <a:latin typeface="Calibri Light"/>
                <a:cs typeface="Calibri Light"/>
              </a:rPr>
              <a:t>a</a:t>
            </a:r>
            <a:endParaRPr sz="1600">
              <a:latin typeface="Calibri Light"/>
              <a:cs typeface="Calibri Ligh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9373" y="271525"/>
          <a:ext cx="12011658" cy="65801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2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2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AGENDA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ITEM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RESOURCES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RESPONSIBLE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just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Welcome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 and</a:t>
                      </a:r>
                      <a:r>
                        <a:rPr sz="12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outline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 objective</a:t>
                      </a:r>
                      <a:r>
                        <a:rPr sz="12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 meeting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320040" indent="-229235" algn="just">
                        <a:lnSpc>
                          <a:spcPct val="100000"/>
                        </a:lnSpc>
                        <a:buAutoNum type="arabicPeriod"/>
                        <a:tabLst>
                          <a:tab pos="320675" algn="l"/>
                        </a:tabLst>
                      </a:pPr>
                      <a:r>
                        <a:rPr sz="1200" b="1" spc="-5" dirty="0">
                          <a:latin typeface="Calibri"/>
                          <a:cs typeface="Calibri"/>
                        </a:rPr>
                        <a:t>Thank</a:t>
                      </a:r>
                      <a:r>
                        <a:rPr sz="12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your</a:t>
                      </a:r>
                      <a:r>
                        <a:rPr sz="12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team</a:t>
                      </a:r>
                      <a:r>
                        <a:rPr sz="12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open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feedback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 the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employee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engagement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survey.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320040" marR="83185" indent="-228600" algn="just">
                        <a:lnSpc>
                          <a:spcPct val="100000"/>
                        </a:lnSpc>
                        <a:buAutoNum type="arabicPeriod"/>
                        <a:tabLst>
                          <a:tab pos="320675" algn="l"/>
                        </a:tabLst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Explain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that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the purpose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this session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to further discuss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employee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engagement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results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other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areas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opportunity for your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team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enhance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engagement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further, 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through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team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action plan.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320040" marR="82550" indent="-228600" algn="just">
                        <a:lnSpc>
                          <a:spcPct val="100000"/>
                        </a:lnSpc>
                        <a:buAutoNum type="arabicPeriod"/>
                        <a:tabLst>
                          <a:tab pos="320675" algn="l"/>
                        </a:tabLst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Ensure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that you create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open 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and trusting environment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.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Highlight that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this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 a </a:t>
                      </a:r>
                      <a:r>
                        <a:rPr sz="1200" b="1" spc="-15" dirty="0">
                          <a:latin typeface="Calibri"/>
                          <a:cs typeface="Calibri"/>
                        </a:rPr>
                        <a:t>safe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space, where</a:t>
                      </a:r>
                      <a:r>
                        <a:rPr sz="12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concerns</a:t>
                      </a:r>
                      <a:r>
                        <a:rPr sz="12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observations</a:t>
                      </a:r>
                      <a:r>
                        <a:rPr sz="12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2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be 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raised.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Line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Manager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3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15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u="sng" spc="-5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2" action="ppaction://hlinksldjump"/>
                        </a:rPr>
                        <a:t>Current</a:t>
                      </a:r>
                      <a:r>
                        <a:rPr sz="1200" b="1" u="sng" spc="-30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2" action="ppaction://hlinksldjump"/>
                        </a:rPr>
                        <a:t> </a:t>
                      </a:r>
                      <a:r>
                        <a:rPr sz="1200" b="1" u="sng" spc="-5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2" action="ppaction://hlinksldjump"/>
                        </a:rPr>
                        <a:t>Results</a:t>
                      </a:r>
                      <a:r>
                        <a:rPr sz="1200" b="1" u="sng" spc="-30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2" action="ppaction://hlinksldjump"/>
                        </a:rPr>
                        <a:t> </a:t>
                      </a:r>
                      <a:r>
                        <a:rPr sz="1200" b="1" u="sng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2" action="ppaction://hlinksldjump"/>
                        </a:rPr>
                        <a:t>discussion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69875" indent="-179070">
                        <a:lnSpc>
                          <a:spcPct val="100000"/>
                        </a:lnSpc>
                        <a:buAutoNum type="arabicPeriod"/>
                        <a:tabLst>
                          <a:tab pos="270510" algn="l"/>
                        </a:tabLst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Sharing</a:t>
                      </a:r>
                      <a:r>
                        <a:rPr sz="1200" spc="2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229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200" b="1" spc="2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divisional</a:t>
                      </a:r>
                      <a:r>
                        <a:rPr sz="1200" b="1" spc="4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b="1" spc="2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departmental</a:t>
                      </a:r>
                      <a:r>
                        <a:rPr sz="1200" b="1" spc="229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results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200" spc="2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highlighting</a:t>
                      </a:r>
                      <a:r>
                        <a:rPr sz="1200" spc="2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2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200" spc="2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strengths</a:t>
                      </a:r>
                      <a:r>
                        <a:rPr sz="1200" spc="2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and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concern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areas coming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forward.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41935" indent="-151130">
                        <a:lnSpc>
                          <a:spcPct val="100000"/>
                        </a:lnSpc>
                        <a:spcBef>
                          <a:spcPts val="5"/>
                        </a:spcBef>
                        <a:buAutoNum type="arabicPeriod" startAt="2"/>
                        <a:tabLst>
                          <a:tab pos="242570" algn="l"/>
                        </a:tabLst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Share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Team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results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41935" indent="-151130">
                        <a:lnSpc>
                          <a:spcPct val="100000"/>
                        </a:lnSpc>
                        <a:buAutoNum type="arabicPeriod" startAt="2"/>
                        <a:tabLst>
                          <a:tab pos="242570" algn="l"/>
                        </a:tabLst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Review each area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opportunity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generate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discussion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594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Slides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results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you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wish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200" spc="-2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focus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HRBP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Line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Manager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u="sng" spc="-10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3" action="ppaction://hlinksldjump"/>
                        </a:rPr>
                        <a:t>Engagement</a:t>
                      </a:r>
                      <a:r>
                        <a:rPr sz="1200" b="1" u="sng" spc="30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3" action="ppaction://hlinksldjump"/>
                        </a:rPr>
                        <a:t> </a:t>
                      </a:r>
                      <a:r>
                        <a:rPr sz="1200" b="1" u="sng" spc="-5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3" action="ppaction://hlinksldjump"/>
                        </a:rPr>
                        <a:t>Results</a:t>
                      </a:r>
                      <a:r>
                        <a:rPr sz="1200" b="1" u="sng" spc="-10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3" action="ppaction://hlinksldjump"/>
                        </a:rPr>
                        <a:t> </a:t>
                      </a:r>
                      <a:r>
                        <a:rPr sz="1200" b="1" u="sng" spc="-5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3" action="ppaction://hlinksldjump"/>
                        </a:rPr>
                        <a:t>Deep</a:t>
                      </a:r>
                      <a:r>
                        <a:rPr sz="1200" b="1" u="sng" spc="25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3" action="ppaction://hlinksldjump"/>
                        </a:rPr>
                        <a:t> </a:t>
                      </a:r>
                      <a:r>
                        <a:rPr sz="1200" b="1" u="sng" spc="-10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3" action="ppaction://hlinksldjump"/>
                        </a:rPr>
                        <a:t>Dive</a:t>
                      </a:r>
                      <a:r>
                        <a:rPr sz="1200" b="1" u="sng" spc="5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3" action="ppaction://hlinksldjump"/>
                        </a:rPr>
                        <a:t> </a:t>
                      </a:r>
                      <a:r>
                        <a:rPr sz="1200" b="1" u="sng" spc="-5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3" action="ppaction://hlinksldjump"/>
                        </a:rPr>
                        <a:t>and</a:t>
                      </a:r>
                      <a:r>
                        <a:rPr sz="1200" b="1" u="sng" spc="20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3" action="ppaction://hlinksldjump"/>
                        </a:rPr>
                        <a:t> </a:t>
                      </a:r>
                      <a:r>
                        <a:rPr sz="1200" b="1" u="sng" spc="-5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3" action="ppaction://hlinksldjump"/>
                        </a:rPr>
                        <a:t>Identifying</a:t>
                      </a:r>
                      <a:r>
                        <a:rPr sz="1200" b="1" u="sng" spc="10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3" action="ppaction://hlinksldjump"/>
                        </a:rPr>
                        <a:t> </a:t>
                      </a:r>
                      <a:r>
                        <a:rPr sz="1200" b="1" u="sng" spc="-5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3" action="ppaction://hlinksldjump"/>
                        </a:rPr>
                        <a:t>top</a:t>
                      </a:r>
                      <a:r>
                        <a:rPr sz="1200" b="1" u="sng" spc="15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3" action="ppaction://hlinksldjump"/>
                        </a:rPr>
                        <a:t> </a:t>
                      </a:r>
                      <a:r>
                        <a:rPr sz="1200" b="1" u="sng" spc="-5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3" action="ppaction://hlinksldjump"/>
                        </a:rPr>
                        <a:t>areas</a:t>
                      </a:r>
                      <a:r>
                        <a:rPr sz="1200" b="1" u="sng" spc="-10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3" action="ppaction://hlinksldjump"/>
                        </a:rPr>
                        <a:t> </a:t>
                      </a:r>
                      <a:r>
                        <a:rPr sz="1200" b="1" u="sng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3" action="ppaction://hlinksldjump"/>
                        </a:rPr>
                        <a:t>of</a:t>
                      </a:r>
                      <a:r>
                        <a:rPr sz="1200" b="1" u="sng" spc="5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3" action="ppaction://hlinksldjump"/>
                        </a:rPr>
                        <a:t> </a:t>
                      </a:r>
                      <a:r>
                        <a:rPr sz="1200" b="1" u="sng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3" action="ppaction://hlinksldjump"/>
                        </a:rPr>
                        <a:t>opportunity: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320040" marR="83185" indent="-228600">
                        <a:lnSpc>
                          <a:spcPct val="100000"/>
                        </a:lnSpc>
                        <a:buAutoNum type="arabicPeriod"/>
                        <a:tabLst>
                          <a:tab pos="320675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Ask</a:t>
                      </a:r>
                      <a:r>
                        <a:rPr sz="12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each</a:t>
                      </a:r>
                      <a:r>
                        <a:rPr sz="1200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team</a:t>
                      </a:r>
                      <a:r>
                        <a:rPr sz="12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member</a:t>
                      </a:r>
                      <a:r>
                        <a:rPr sz="12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share</a:t>
                      </a:r>
                      <a:r>
                        <a:rPr sz="12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what</a:t>
                      </a:r>
                      <a:r>
                        <a:rPr sz="12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2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believe</a:t>
                      </a:r>
                      <a:r>
                        <a:rPr sz="12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top</a:t>
                      </a:r>
                      <a:r>
                        <a:rPr sz="12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2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areas</a:t>
                      </a:r>
                      <a:r>
                        <a:rPr sz="12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opportunity</a:t>
                      </a:r>
                      <a:r>
                        <a:rPr sz="12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2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for </a:t>
                      </a:r>
                      <a:r>
                        <a:rPr sz="1200" spc="-25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team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(where they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would 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like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to see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team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improve).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320040" indent="-229235">
                        <a:lnSpc>
                          <a:spcPct val="100000"/>
                        </a:lnSpc>
                        <a:buAutoNum type="arabicPeriod"/>
                        <a:tabLst>
                          <a:tab pos="320675" algn="l"/>
                        </a:tabLst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Document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findings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generate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consensus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around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3-4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areas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focus.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320040" marR="83820" indent="-228600">
                        <a:lnSpc>
                          <a:spcPct val="100000"/>
                        </a:lnSpc>
                        <a:buAutoNum type="arabicPeriod"/>
                        <a:tabLst>
                          <a:tab pos="320675" algn="l"/>
                        </a:tabLst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Highlight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areas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seem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be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running</a:t>
                      </a:r>
                      <a:r>
                        <a:rPr sz="12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across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 the</a:t>
                      </a:r>
                      <a:r>
                        <a:rPr sz="12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Division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also</a:t>
                      </a:r>
                      <a:r>
                        <a:rPr sz="1200" spc="2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those</a:t>
                      </a:r>
                      <a:r>
                        <a:rPr sz="1200" spc="2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200" spc="2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are </a:t>
                      </a:r>
                      <a:r>
                        <a:rPr sz="1200" spc="-2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unique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team.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Flip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chart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Markers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HRBP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Line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Manager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u="sng" spc="-5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4" action="ppaction://hlinksldjump"/>
                        </a:rPr>
                        <a:t>Develop</a:t>
                      </a:r>
                      <a:r>
                        <a:rPr sz="1200" b="1" u="sng" spc="-15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4" action="ppaction://hlinksldjump"/>
                        </a:rPr>
                        <a:t> </a:t>
                      </a:r>
                      <a:r>
                        <a:rPr sz="1200" b="1" u="sng" spc="-5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4" action="ppaction://hlinksldjump"/>
                        </a:rPr>
                        <a:t>Action</a:t>
                      </a:r>
                      <a:r>
                        <a:rPr sz="1200" b="1" u="sng" spc="-15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4" action="ppaction://hlinksldjump"/>
                        </a:rPr>
                        <a:t> </a:t>
                      </a:r>
                      <a:r>
                        <a:rPr sz="1200" b="1" u="sng" spc="-5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4" action="ppaction://hlinksldjump"/>
                        </a:rPr>
                        <a:t>Plan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320040" indent="-229235">
                        <a:lnSpc>
                          <a:spcPct val="100000"/>
                        </a:lnSpc>
                        <a:buAutoNum type="arabicPeriod"/>
                        <a:tabLst>
                          <a:tab pos="320675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Ask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team members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generate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ideas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for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action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items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around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areas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focus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320040" indent="-229235">
                        <a:lnSpc>
                          <a:spcPct val="100000"/>
                        </a:lnSpc>
                        <a:buAutoNum type="arabicPeriod"/>
                        <a:tabLst>
                          <a:tab pos="320675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team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select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3- 4 final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action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items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320040" indent="-229235">
                        <a:lnSpc>
                          <a:spcPct val="100000"/>
                        </a:lnSpc>
                        <a:buAutoNum type="arabicPeriod"/>
                        <a:tabLst>
                          <a:tab pos="320675" algn="l"/>
                        </a:tabLst>
                      </a:pPr>
                      <a:r>
                        <a:rPr sz="1200" spc="-30" dirty="0">
                          <a:latin typeface="Calibri"/>
                          <a:cs typeface="Calibri"/>
                        </a:rPr>
                        <a:t>You</a:t>
                      </a:r>
                      <a:r>
                        <a:rPr sz="12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might</a:t>
                      </a:r>
                      <a:r>
                        <a:rPr sz="1200" spc="2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wish</a:t>
                      </a:r>
                      <a:r>
                        <a:rPr sz="1200" spc="2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2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identify</a:t>
                      </a:r>
                      <a:r>
                        <a:rPr sz="1200" spc="2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200" spc="2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employee</a:t>
                      </a:r>
                      <a:r>
                        <a:rPr sz="1200" spc="2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champion</a:t>
                      </a:r>
                      <a:r>
                        <a:rPr sz="1200" spc="2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200" spc="2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each</a:t>
                      </a:r>
                      <a:r>
                        <a:rPr sz="1200" spc="2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item</a:t>
                      </a:r>
                      <a:r>
                        <a:rPr sz="1200" spc="2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(this</a:t>
                      </a:r>
                      <a:r>
                        <a:rPr sz="1200" spc="2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also</a:t>
                      </a:r>
                      <a:r>
                        <a:rPr sz="1200" spc="2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enhances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3200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engagement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development)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320040" marR="83820" indent="-228600">
                        <a:lnSpc>
                          <a:spcPct val="100000"/>
                        </a:lnSpc>
                        <a:buAutoNum type="arabicPeriod" startAt="4"/>
                        <a:tabLst>
                          <a:tab pos="320675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Ask</a:t>
                      </a:r>
                      <a:r>
                        <a:rPr sz="12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employee</a:t>
                      </a:r>
                      <a:r>
                        <a:rPr sz="12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champion</a:t>
                      </a:r>
                      <a:r>
                        <a:rPr sz="12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prepare</a:t>
                      </a:r>
                      <a:r>
                        <a:rPr sz="1200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suggestion</a:t>
                      </a:r>
                      <a:r>
                        <a:rPr sz="12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2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final</a:t>
                      </a:r>
                      <a:r>
                        <a:rPr sz="12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action</a:t>
                      </a:r>
                      <a:r>
                        <a:rPr sz="12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item</a:t>
                      </a:r>
                      <a:r>
                        <a:rPr sz="12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(wording, </a:t>
                      </a:r>
                      <a:r>
                        <a:rPr sz="1200" spc="-2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outcome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completion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date)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give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to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you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after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meeting.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Flip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chart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Markers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HRBP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Line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Manager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15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u="sng" spc="-5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5" action="ppaction://hlinksldjump"/>
                        </a:rPr>
                        <a:t>Close</a:t>
                      </a:r>
                      <a:r>
                        <a:rPr sz="1200" b="1" u="sng" spc="-10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5" action="ppaction://hlinksldjump"/>
                        </a:rPr>
                        <a:t> </a:t>
                      </a:r>
                      <a:r>
                        <a:rPr sz="1200" b="1" u="sng" spc="-5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5" action="ppaction://hlinksldjump"/>
                        </a:rPr>
                        <a:t>and Thank</a:t>
                      </a:r>
                      <a:r>
                        <a:rPr sz="1200" b="1" u="sng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5" action="ppaction://hlinksldjump"/>
                        </a:rPr>
                        <a:t> </a:t>
                      </a:r>
                      <a:r>
                        <a:rPr sz="1200" b="1" u="sng" spc="-25" dirty="0">
                          <a:solidFill>
                            <a:srgbClr val="944F71"/>
                          </a:solidFill>
                          <a:uFill>
                            <a:solidFill>
                              <a:srgbClr val="944F71"/>
                            </a:solidFill>
                          </a:uFill>
                          <a:latin typeface="Calibri"/>
                          <a:cs typeface="Calibri"/>
                          <a:hlinkClick r:id="rId5" action="ppaction://hlinksldjump"/>
                        </a:rPr>
                        <a:t>You!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320040" indent="-229235">
                        <a:lnSpc>
                          <a:spcPct val="100000"/>
                        </a:lnSpc>
                        <a:buAutoNum type="arabicPeriod"/>
                        <a:tabLst>
                          <a:tab pos="320675" algn="l"/>
                        </a:tabLst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Review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final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outcomes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team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320040" indent="-229235">
                        <a:lnSpc>
                          <a:spcPct val="100000"/>
                        </a:lnSpc>
                        <a:buAutoNum type="arabicPeriod"/>
                        <a:tabLst>
                          <a:tab pos="320675" algn="l"/>
                        </a:tabLst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Discuss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specific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next steps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320040" indent="-229235">
                        <a:lnSpc>
                          <a:spcPct val="100000"/>
                        </a:lnSpc>
                        <a:buAutoNum type="arabicPeriod"/>
                        <a:tabLst>
                          <a:tab pos="320675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Thank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them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time.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HRBP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Line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Manager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561">
                <a:tc gridSpan="4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spc="-5" dirty="0">
                          <a:latin typeface="Calibri"/>
                          <a:cs typeface="Calibri"/>
                        </a:rPr>
                        <a:t>Document</a:t>
                      </a:r>
                      <a:r>
                        <a:rPr sz="12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200" b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Qualtrics</a:t>
                      </a:r>
                      <a:r>
                        <a:rPr sz="12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b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KPI’s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sz="1200" spc="3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Close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your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action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plan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Qualtrics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E9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0285" y="227838"/>
            <a:ext cx="6900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/>
              <a:t>SHARING</a:t>
            </a:r>
            <a:r>
              <a:rPr sz="1800" spc="-65" dirty="0"/>
              <a:t> </a:t>
            </a:r>
            <a:r>
              <a:rPr sz="1800" spc="-15" dirty="0"/>
              <a:t>CURRENT</a:t>
            </a:r>
            <a:r>
              <a:rPr sz="1800" spc="-70" dirty="0"/>
              <a:t> </a:t>
            </a:r>
            <a:r>
              <a:rPr sz="1800" spc="-35" dirty="0"/>
              <a:t>RESULTS-</a:t>
            </a:r>
            <a:r>
              <a:rPr sz="1800" spc="-55" dirty="0"/>
              <a:t> </a:t>
            </a:r>
            <a:r>
              <a:rPr sz="1800" spc="-15" dirty="0"/>
              <a:t>HOW</a:t>
            </a:r>
            <a:r>
              <a:rPr sz="1800" spc="-75" dirty="0"/>
              <a:t> </a:t>
            </a:r>
            <a:r>
              <a:rPr sz="1800" spc="-30" dirty="0"/>
              <a:t>TO</a:t>
            </a:r>
            <a:r>
              <a:rPr sz="1800" spc="-65" dirty="0"/>
              <a:t> </a:t>
            </a:r>
            <a:r>
              <a:rPr sz="1800" spc="-25" dirty="0"/>
              <a:t>HAVE</a:t>
            </a:r>
            <a:r>
              <a:rPr sz="1800" spc="-60" dirty="0"/>
              <a:t> </a:t>
            </a:r>
            <a:r>
              <a:rPr sz="1800" spc="-5" dirty="0"/>
              <a:t>AN</a:t>
            </a:r>
            <a:r>
              <a:rPr sz="1800" spc="-45" dirty="0"/>
              <a:t> </a:t>
            </a:r>
            <a:r>
              <a:rPr sz="1800" spc="-15" dirty="0"/>
              <a:t>EFFECTIVE</a:t>
            </a:r>
            <a:r>
              <a:rPr sz="1800" spc="-60" dirty="0"/>
              <a:t> </a:t>
            </a:r>
            <a:r>
              <a:rPr sz="1800" spc="-35" dirty="0"/>
              <a:t>CONVERSATION?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324611" y="918972"/>
            <a:ext cx="11305540" cy="1478280"/>
          </a:xfrm>
          <a:prstGeom prst="rect">
            <a:avLst/>
          </a:prstGeom>
          <a:solidFill>
            <a:srgbClr val="BCD6ED"/>
          </a:solidFill>
        </p:spPr>
        <p:txBody>
          <a:bodyPr vert="horz" wrap="square" lIns="0" tIns="31114" rIns="0" bIns="0" rtlCol="0">
            <a:spAutoFit/>
          </a:bodyPr>
          <a:lstStyle/>
          <a:p>
            <a:pPr marL="433705" marR="213360" indent="-342900">
              <a:lnSpc>
                <a:spcPct val="100000"/>
              </a:lnSpc>
              <a:spcBef>
                <a:spcPts val="244"/>
              </a:spcBef>
              <a:buAutoNum type="arabicPeriod"/>
              <a:tabLst>
                <a:tab pos="433070" algn="l"/>
                <a:tab pos="434340" algn="l"/>
              </a:tabLst>
            </a:pPr>
            <a:r>
              <a:rPr sz="1800" b="1" dirty="0">
                <a:latin typeface="Calibri"/>
                <a:cs typeface="Calibri"/>
              </a:rPr>
              <a:t>Be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Open</a:t>
            </a:r>
            <a:r>
              <a:rPr sz="1800" spc="-5" dirty="0">
                <a:latin typeface="Calibri"/>
                <a:cs typeface="Calibri"/>
              </a:rPr>
              <a:t>: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5" dirty="0">
                <a:latin typeface="Calibri"/>
                <a:cs typeface="Calibri"/>
              </a:rPr>
              <a:t>Take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feedback</a:t>
            </a:r>
            <a:r>
              <a:rPr sz="1800" spc="-5" dirty="0">
                <a:latin typeface="Calibri"/>
                <a:cs typeface="Calibri"/>
              </a:rPr>
              <a:t> 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board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constructively,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even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tough,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approach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curiosity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understand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40" dirty="0">
                <a:latin typeface="Calibri"/>
                <a:cs typeface="Calibri"/>
              </a:rPr>
              <a:t>better.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Paraphrase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what</a:t>
            </a:r>
            <a:r>
              <a:rPr sz="1800" spc="-10" dirty="0">
                <a:latin typeface="Calibri"/>
                <a:cs typeface="Calibri"/>
              </a:rPr>
              <a:t> you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heard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positive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way,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ensure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understood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correctly.</a:t>
            </a:r>
            <a:endParaRPr sz="1800">
              <a:latin typeface="Calibri"/>
              <a:cs typeface="Calibri"/>
            </a:endParaRPr>
          </a:p>
          <a:p>
            <a:pPr marL="433705" indent="-343535">
              <a:lnSpc>
                <a:spcPct val="100000"/>
              </a:lnSpc>
              <a:buAutoNum type="arabicPeriod"/>
              <a:tabLst>
                <a:tab pos="433070" algn="l"/>
                <a:tab pos="434340" algn="l"/>
              </a:tabLst>
            </a:pPr>
            <a:r>
              <a:rPr sz="1800" b="1" dirty="0">
                <a:latin typeface="Calibri"/>
                <a:cs typeface="Calibri"/>
              </a:rPr>
              <a:t>Be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Thankful</a:t>
            </a:r>
            <a:r>
              <a:rPr sz="1800" spc="-5" dirty="0">
                <a:latin typeface="Calibri"/>
                <a:cs typeface="Calibri"/>
              </a:rPr>
              <a:t>: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Thank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employees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feedback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suggestions no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matter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quality</a:t>
            </a:r>
            <a:endParaRPr sz="1800">
              <a:latin typeface="Calibri"/>
              <a:cs typeface="Calibri"/>
            </a:endParaRPr>
          </a:p>
          <a:p>
            <a:pPr marL="433705" indent="-343535">
              <a:lnSpc>
                <a:spcPct val="100000"/>
              </a:lnSpc>
              <a:buAutoNum type="arabicPeriod"/>
              <a:tabLst>
                <a:tab pos="433070" algn="l"/>
                <a:tab pos="434340" algn="l"/>
              </a:tabLst>
            </a:pPr>
            <a:r>
              <a:rPr sz="1800" b="1" dirty="0">
                <a:latin typeface="Calibri"/>
                <a:cs typeface="Calibri"/>
              </a:rPr>
              <a:t>Don’t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Interrupt</a:t>
            </a:r>
            <a:r>
              <a:rPr sz="1800" spc="-10" dirty="0">
                <a:latin typeface="Calibri"/>
                <a:cs typeface="Calibri"/>
              </a:rPr>
              <a:t>: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15" dirty="0">
                <a:latin typeface="Calibri"/>
                <a:cs typeface="Calibri"/>
              </a:rPr>
              <a:t>facilitator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only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interrupt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sake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time</a:t>
            </a:r>
            <a:endParaRPr sz="1800">
              <a:latin typeface="Calibri"/>
              <a:cs typeface="Calibri"/>
            </a:endParaRPr>
          </a:p>
          <a:p>
            <a:pPr marL="433705" indent="-343535">
              <a:lnSpc>
                <a:spcPct val="100000"/>
              </a:lnSpc>
              <a:buAutoNum type="arabicPeriod"/>
              <a:tabLst>
                <a:tab pos="433070" algn="l"/>
                <a:tab pos="434340" algn="l"/>
              </a:tabLst>
            </a:pPr>
            <a:r>
              <a:rPr sz="1800" b="1" spc="-5" dirty="0">
                <a:latin typeface="Calibri"/>
                <a:cs typeface="Calibri"/>
              </a:rPr>
              <a:t>Empower: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employee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seems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very</a:t>
            </a:r>
            <a:r>
              <a:rPr sz="1800" spc="-10" dirty="0">
                <a:latin typeface="Calibri"/>
                <a:cs typeface="Calibri"/>
              </a:rPr>
              <a:t> passionate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about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something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ask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them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“champion”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idea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 action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9955" y="2691383"/>
            <a:ext cx="5009515" cy="3693160"/>
          </a:xfrm>
          <a:custGeom>
            <a:avLst/>
            <a:gdLst/>
            <a:ahLst/>
            <a:cxnLst/>
            <a:rect l="l" t="t" r="r" b="b"/>
            <a:pathLst>
              <a:path w="5009515" h="3693160">
                <a:moveTo>
                  <a:pt x="5009388" y="0"/>
                </a:moveTo>
                <a:lnTo>
                  <a:pt x="0" y="0"/>
                </a:lnTo>
                <a:lnTo>
                  <a:pt x="0" y="3692652"/>
                </a:lnTo>
                <a:lnTo>
                  <a:pt x="5009388" y="3692652"/>
                </a:lnTo>
                <a:lnTo>
                  <a:pt x="5009388" y="0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9955" y="2691383"/>
            <a:ext cx="5009515" cy="3693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Tips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-5" dirty="0">
                <a:latin typeface="Calibri"/>
                <a:cs typeface="Calibri"/>
              </a:rPr>
              <a:t> discussing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-5" dirty="0">
                <a:latin typeface="Calibri"/>
                <a:cs typeface="Calibri"/>
              </a:rPr>
              <a:t> engagement </a:t>
            </a:r>
            <a:r>
              <a:rPr sz="1800" spc="-10" dirty="0">
                <a:latin typeface="Calibri"/>
                <a:cs typeface="Calibri"/>
              </a:rPr>
              <a:t>results: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Calibri"/>
              <a:cs typeface="Calibri"/>
            </a:endParaRPr>
          </a:p>
          <a:p>
            <a:pPr marL="433705" marR="565150" indent="-3429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33705" algn="l"/>
                <a:tab pos="434340" algn="l"/>
              </a:tabLst>
            </a:pPr>
            <a:r>
              <a:rPr sz="1800" spc="-5" dirty="0">
                <a:latin typeface="Calibri"/>
                <a:cs typeface="Calibri"/>
              </a:rPr>
              <a:t>Thank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10" dirty="0">
                <a:latin typeface="Calibri"/>
                <a:cs typeface="Calibri"/>
              </a:rPr>
              <a:t>praise </a:t>
            </a:r>
            <a:r>
              <a:rPr sz="1800" dirty="0">
                <a:latin typeface="Calibri"/>
                <a:cs typeface="Calibri"/>
              </a:rPr>
              <a:t>all </a:t>
            </a:r>
            <a:r>
              <a:rPr sz="1800" spc="-5" dirty="0">
                <a:latin typeface="Calibri"/>
                <a:cs typeface="Calibri"/>
              </a:rPr>
              <a:t>employees </a:t>
            </a:r>
            <a:r>
              <a:rPr sz="1800" spc="-15" dirty="0">
                <a:latin typeface="Calibri"/>
                <a:cs typeface="Calibri"/>
              </a:rPr>
              <a:t>for </a:t>
            </a:r>
            <a:r>
              <a:rPr sz="1800" spc="-5" dirty="0">
                <a:latin typeface="Calibri"/>
                <a:cs typeface="Calibri"/>
              </a:rPr>
              <a:t>positive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outcomes</a:t>
            </a:r>
            <a:endParaRPr sz="1800">
              <a:latin typeface="Calibri"/>
              <a:cs typeface="Calibri"/>
            </a:endParaRPr>
          </a:p>
          <a:p>
            <a:pPr marL="433705" marR="648970" indent="-342900">
              <a:lnSpc>
                <a:spcPct val="100000"/>
              </a:lnSpc>
              <a:buAutoNum type="arabicPeriod"/>
              <a:tabLst>
                <a:tab pos="433705" algn="l"/>
                <a:tab pos="434340" algn="l"/>
              </a:tabLst>
            </a:pPr>
            <a:r>
              <a:rPr sz="1800" spc="-15" dirty="0">
                <a:latin typeface="Calibri"/>
                <a:cs typeface="Calibri"/>
              </a:rPr>
              <a:t>Recognize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those</a:t>
            </a:r>
            <a:r>
              <a:rPr sz="1800" spc="-10" dirty="0">
                <a:latin typeface="Calibri"/>
                <a:cs typeface="Calibri"/>
              </a:rPr>
              <a:t> team</a:t>
            </a:r>
            <a:r>
              <a:rPr sz="1800" spc="-5" dirty="0">
                <a:latin typeface="Calibri"/>
                <a:cs typeface="Calibri"/>
              </a:rPr>
              <a:t> members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who </a:t>
            </a:r>
            <a:r>
              <a:rPr sz="1800" spc="-10" dirty="0">
                <a:latin typeface="Calibri"/>
                <a:cs typeface="Calibri"/>
              </a:rPr>
              <a:t>have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championed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certain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areas</a:t>
            </a:r>
            <a:endParaRPr sz="1800">
              <a:latin typeface="Calibri"/>
              <a:cs typeface="Calibri"/>
            </a:endParaRPr>
          </a:p>
          <a:p>
            <a:pPr marL="433705" marR="125095" indent="-342900">
              <a:lnSpc>
                <a:spcPct val="100000"/>
              </a:lnSpc>
              <a:buAutoNum type="arabicPeriod"/>
              <a:tabLst>
                <a:tab pos="433705" algn="l"/>
                <a:tab pos="434340" algn="l"/>
              </a:tabLst>
            </a:pPr>
            <a:r>
              <a:rPr sz="1800" spc="-5" dirty="0">
                <a:latin typeface="Calibri"/>
                <a:cs typeface="Calibri"/>
              </a:rPr>
              <a:t>Approach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lower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scores, </a:t>
            </a:r>
            <a:r>
              <a:rPr sz="1800" spc="-5" dirty="0">
                <a:latin typeface="Calibri"/>
                <a:cs typeface="Calibri"/>
              </a:rPr>
              <a:t>with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curiosity.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Think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opportunity,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trying </a:t>
            </a:r>
            <a:r>
              <a:rPr sz="1800" spc="-10" dirty="0">
                <a:latin typeface="Calibri"/>
                <a:cs typeface="Calibri"/>
              </a:rPr>
              <a:t>to understand </a:t>
            </a:r>
            <a:r>
              <a:rPr sz="1800" spc="-5" dirty="0">
                <a:latin typeface="Calibri"/>
                <a:cs typeface="Calibri"/>
              </a:rPr>
              <a:t> what needs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happen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drive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those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scores</a:t>
            </a:r>
            <a:r>
              <a:rPr sz="1800" spc="-5" dirty="0">
                <a:latin typeface="Calibri"/>
                <a:cs typeface="Calibri"/>
              </a:rPr>
              <a:t> up.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134090" y="6367017"/>
            <a:ext cx="991235" cy="497840"/>
            <a:chOff x="11134090" y="6367017"/>
            <a:chExt cx="991235" cy="497840"/>
          </a:xfrm>
        </p:grpSpPr>
        <p:sp>
          <p:nvSpPr>
            <p:cNvPr id="7" name="object 7"/>
            <p:cNvSpPr/>
            <p:nvPr/>
          </p:nvSpPr>
          <p:spPr>
            <a:xfrm>
              <a:off x="11140440" y="6373367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4" h="485140">
                  <a:moveTo>
                    <a:pt x="242315" y="0"/>
                  </a:moveTo>
                  <a:lnTo>
                    <a:pt x="0" y="242315"/>
                  </a:lnTo>
                  <a:lnTo>
                    <a:pt x="242315" y="484631"/>
                  </a:lnTo>
                  <a:lnTo>
                    <a:pt x="242315" y="363473"/>
                  </a:lnTo>
                  <a:lnTo>
                    <a:pt x="978407" y="363473"/>
                  </a:lnTo>
                  <a:lnTo>
                    <a:pt x="978407" y="121157"/>
                  </a:lnTo>
                  <a:lnTo>
                    <a:pt x="242315" y="121157"/>
                  </a:lnTo>
                  <a:lnTo>
                    <a:pt x="24231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140440" y="6373367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4" h="485140">
                  <a:moveTo>
                    <a:pt x="0" y="242315"/>
                  </a:moveTo>
                  <a:lnTo>
                    <a:pt x="242315" y="0"/>
                  </a:lnTo>
                  <a:lnTo>
                    <a:pt x="242315" y="121157"/>
                  </a:lnTo>
                  <a:lnTo>
                    <a:pt x="978407" y="121157"/>
                  </a:lnTo>
                  <a:lnTo>
                    <a:pt x="978407" y="363473"/>
                  </a:lnTo>
                  <a:lnTo>
                    <a:pt x="242315" y="363473"/>
                  </a:lnTo>
                  <a:lnTo>
                    <a:pt x="242315" y="484631"/>
                  </a:lnTo>
                  <a:lnTo>
                    <a:pt x="0" y="24231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463128" y="2765074"/>
            <a:ext cx="609600" cy="452755"/>
          </a:xfrm>
          <a:custGeom>
            <a:avLst/>
            <a:gdLst/>
            <a:ahLst/>
            <a:cxnLst/>
            <a:rect l="l" t="t" r="r" b="b"/>
            <a:pathLst>
              <a:path w="609600" h="452755">
                <a:moveTo>
                  <a:pt x="607975" y="0"/>
                </a:moveTo>
                <a:lnTo>
                  <a:pt x="32016" y="0"/>
                </a:lnTo>
                <a:lnTo>
                  <a:pt x="0" y="32011"/>
                </a:lnTo>
                <a:lnTo>
                  <a:pt x="0" y="420627"/>
                </a:lnTo>
                <a:lnTo>
                  <a:pt x="31451" y="452639"/>
                </a:lnTo>
                <a:lnTo>
                  <a:pt x="156595" y="452639"/>
                </a:lnTo>
                <a:lnTo>
                  <a:pt x="287830" y="321406"/>
                </a:lnTo>
                <a:lnTo>
                  <a:pt x="288269" y="319231"/>
                </a:lnTo>
                <a:lnTo>
                  <a:pt x="295681" y="308234"/>
                </a:lnTo>
                <a:lnTo>
                  <a:pt x="306678" y="300818"/>
                </a:lnTo>
                <a:lnTo>
                  <a:pt x="308861" y="300377"/>
                </a:lnTo>
                <a:lnTo>
                  <a:pt x="338824" y="270414"/>
                </a:lnTo>
                <a:lnTo>
                  <a:pt x="299444" y="270414"/>
                </a:lnTo>
                <a:lnTo>
                  <a:pt x="299444" y="75408"/>
                </a:lnTo>
                <a:lnTo>
                  <a:pt x="533834" y="75408"/>
                </a:lnTo>
                <a:lnTo>
                  <a:pt x="609017" y="227"/>
                </a:lnTo>
                <a:lnTo>
                  <a:pt x="607975" y="0"/>
                </a:lnTo>
                <a:close/>
              </a:path>
              <a:path w="609600" h="452755">
                <a:moveTo>
                  <a:pt x="533834" y="75408"/>
                </a:moveTo>
                <a:lnTo>
                  <a:pt x="340955" y="75408"/>
                </a:lnTo>
                <a:lnTo>
                  <a:pt x="340955" y="268283"/>
                </a:lnTo>
                <a:lnTo>
                  <a:pt x="533834" y="754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504688" y="2691383"/>
            <a:ext cx="6125210" cy="3693160"/>
          </a:xfrm>
          <a:prstGeom prst="rect">
            <a:avLst/>
          </a:prstGeom>
          <a:solidFill>
            <a:srgbClr val="F4B083"/>
          </a:solidFill>
        </p:spPr>
        <p:txBody>
          <a:bodyPr vert="horz" wrap="square" lIns="0" tIns="3048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40"/>
              </a:spcBef>
            </a:pPr>
            <a:r>
              <a:rPr sz="1800" spc="-25" dirty="0">
                <a:latin typeface="Calibri"/>
                <a:cs typeface="Calibri"/>
              </a:rPr>
              <a:t>At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this </a:t>
            </a:r>
            <a:r>
              <a:rPr sz="1800" spc="-15" dirty="0">
                <a:latin typeface="Calibri"/>
                <a:cs typeface="Calibri"/>
              </a:rPr>
              <a:t>stage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avoid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jumping </a:t>
            </a:r>
            <a:r>
              <a:rPr sz="1800" dirty="0">
                <a:latin typeface="Calibri"/>
                <a:cs typeface="Calibri"/>
              </a:rPr>
              <a:t>in </a:t>
            </a:r>
            <a:r>
              <a:rPr sz="1800" spc="-10" dirty="0">
                <a:latin typeface="Calibri"/>
                <a:cs typeface="Calibri"/>
              </a:rPr>
              <a:t>to: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Calibri"/>
              <a:cs typeface="Calibri"/>
            </a:endParaRPr>
          </a:p>
          <a:p>
            <a:pPr marL="435609" indent="-343535">
              <a:lnSpc>
                <a:spcPct val="100000"/>
              </a:lnSpc>
              <a:buAutoNum type="arabicPeriod"/>
              <a:tabLst>
                <a:tab pos="435609" algn="l"/>
                <a:tab pos="436245" algn="l"/>
              </a:tabLst>
            </a:pPr>
            <a:r>
              <a:rPr sz="1800" spc="-5" dirty="0">
                <a:latin typeface="Calibri"/>
                <a:cs typeface="Calibri"/>
              </a:rPr>
              <a:t>Discuss</a:t>
            </a:r>
            <a:r>
              <a:rPr sz="1800" spc="-15" dirty="0">
                <a:latin typeface="Calibri"/>
                <a:cs typeface="Calibri"/>
              </a:rPr>
              <a:t> why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scores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low</a:t>
            </a:r>
            <a:endParaRPr sz="1800">
              <a:latin typeface="Calibri"/>
              <a:cs typeface="Calibri"/>
            </a:endParaRPr>
          </a:p>
          <a:p>
            <a:pPr marL="435609" indent="-343535">
              <a:lnSpc>
                <a:spcPct val="100000"/>
              </a:lnSpc>
              <a:buAutoNum type="arabicPeriod"/>
              <a:tabLst>
                <a:tab pos="435609" algn="l"/>
                <a:tab pos="436245" algn="l"/>
              </a:tabLst>
            </a:pPr>
            <a:r>
              <a:rPr sz="1800" spc="-5" dirty="0">
                <a:latin typeface="Calibri"/>
                <a:cs typeface="Calibri"/>
              </a:rPr>
              <a:t>What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happened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make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them </a:t>
            </a:r>
            <a:r>
              <a:rPr sz="1800" spc="-10" dirty="0">
                <a:latin typeface="Calibri"/>
                <a:cs typeface="Calibri"/>
              </a:rPr>
              <a:t>low</a:t>
            </a:r>
            <a:endParaRPr sz="1800">
              <a:latin typeface="Calibri"/>
              <a:cs typeface="Calibri"/>
            </a:endParaRPr>
          </a:p>
          <a:p>
            <a:pPr marL="435609" indent="-343535">
              <a:lnSpc>
                <a:spcPct val="100000"/>
              </a:lnSpc>
              <a:buAutoNum type="arabicPeriod"/>
              <a:tabLst>
                <a:tab pos="435609" algn="l"/>
                <a:tab pos="436245" algn="l"/>
              </a:tabLst>
            </a:pPr>
            <a:r>
              <a:rPr sz="1800" spc="-5" dirty="0">
                <a:latin typeface="Calibri"/>
                <a:cs typeface="Calibri"/>
              </a:rPr>
              <a:t>Did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they </a:t>
            </a:r>
            <a:r>
              <a:rPr sz="1800" spc="-10" dirty="0">
                <a:latin typeface="Calibri"/>
                <a:cs typeface="Calibri"/>
              </a:rPr>
              <a:t>improve from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last</a:t>
            </a:r>
            <a:r>
              <a:rPr sz="1800" spc="-5" dirty="0">
                <a:latin typeface="Calibri"/>
                <a:cs typeface="Calibri"/>
              </a:rPr>
              <a:t> year?</a:t>
            </a:r>
            <a:endParaRPr sz="1800">
              <a:latin typeface="Calibri"/>
              <a:cs typeface="Calibri"/>
            </a:endParaRPr>
          </a:p>
          <a:p>
            <a:pPr marL="435609" marR="184785" indent="-342900">
              <a:lnSpc>
                <a:spcPct val="100000"/>
              </a:lnSpc>
              <a:buAutoNum type="arabicPeriod"/>
              <a:tabLst>
                <a:tab pos="435609" algn="l"/>
                <a:tab pos="436245" algn="l"/>
              </a:tabLst>
            </a:pPr>
            <a:r>
              <a:rPr sz="1800" spc="-5" dirty="0">
                <a:latin typeface="Calibri"/>
                <a:cs typeface="Calibri"/>
              </a:rPr>
              <a:t>What </a:t>
            </a:r>
            <a:r>
              <a:rPr sz="1800" spc="-10" dirty="0">
                <a:latin typeface="Calibri"/>
                <a:cs typeface="Calibri"/>
              </a:rPr>
              <a:t>would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look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like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-5" dirty="0">
                <a:latin typeface="Calibri"/>
                <a:cs typeface="Calibri"/>
              </a:rPr>
              <a:t> our </a:t>
            </a:r>
            <a:r>
              <a:rPr sz="1800" spc="-10" dirty="0">
                <a:latin typeface="Calibri"/>
                <a:cs typeface="Calibri"/>
              </a:rPr>
              <a:t>team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if </a:t>
            </a:r>
            <a:r>
              <a:rPr sz="1800" dirty="0">
                <a:latin typeface="Calibri"/>
                <a:cs typeface="Calibri"/>
              </a:rPr>
              <a:t>these </a:t>
            </a:r>
            <a:r>
              <a:rPr sz="1800" spc="-10" dirty="0">
                <a:latin typeface="Calibri"/>
                <a:cs typeface="Calibri"/>
              </a:rPr>
              <a:t>scores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were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higher</a:t>
            </a:r>
            <a:endParaRPr sz="1800">
              <a:latin typeface="Calibri"/>
              <a:cs typeface="Calibri"/>
            </a:endParaRPr>
          </a:p>
          <a:p>
            <a:pPr marL="435609" marR="462915" indent="-342900">
              <a:lnSpc>
                <a:spcPct val="100000"/>
              </a:lnSpc>
              <a:buAutoNum type="arabicPeriod"/>
              <a:tabLst>
                <a:tab pos="435609" algn="l"/>
                <a:tab pos="436245" algn="l"/>
              </a:tabLst>
            </a:pPr>
            <a:r>
              <a:rPr sz="1800" spc="-5" dirty="0">
                <a:latin typeface="Calibri"/>
                <a:cs typeface="Calibri"/>
              </a:rPr>
              <a:t>What actions/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behaviors/</a:t>
            </a:r>
            <a:r>
              <a:rPr sz="1800" spc="-5" dirty="0">
                <a:latin typeface="Calibri"/>
                <a:cs typeface="Calibri"/>
              </a:rPr>
              <a:t> events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activities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would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make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them</a:t>
            </a:r>
            <a:r>
              <a:rPr sz="1800" spc="-5" dirty="0">
                <a:latin typeface="Calibri"/>
                <a:cs typeface="Calibri"/>
              </a:rPr>
              <a:t> positive?</a:t>
            </a:r>
            <a:endParaRPr sz="1800">
              <a:latin typeface="Calibri"/>
              <a:cs typeface="Calibri"/>
            </a:endParaRPr>
          </a:p>
          <a:p>
            <a:pPr marL="435609" marR="897890" indent="-3429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35609" algn="l"/>
                <a:tab pos="436245" algn="l"/>
              </a:tabLst>
            </a:pPr>
            <a:r>
              <a:rPr sz="1800" spc="-10" dirty="0">
                <a:latin typeface="Calibri"/>
                <a:cs typeface="Calibri"/>
              </a:rPr>
              <a:t>How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we</a:t>
            </a:r>
            <a:r>
              <a:rPr sz="1800" spc="-5" dirty="0">
                <a:latin typeface="Calibri"/>
                <a:cs typeface="Calibri"/>
              </a:rPr>
              <a:t> get </a:t>
            </a:r>
            <a:r>
              <a:rPr sz="1800" spc="-10" dirty="0">
                <a:latin typeface="Calibri"/>
                <a:cs typeface="Calibri"/>
              </a:rPr>
              <a:t>from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where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now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positive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scenario</a:t>
            </a:r>
            <a:r>
              <a:rPr sz="1800" dirty="0">
                <a:latin typeface="Calibri"/>
                <a:cs typeface="Calibri"/>
              </a:rPr>
              <a:t> as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discussed.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Engagement</a:t>
            </a:r>
            <a:r>
              <a:rPr spc="-65" dirty="0"/>
              <a:t> </a:t>
            </a:r>
            <a:r>
              <a:rPr spc="-20" dirty="0"/>
              <a:t>Results</a:t>
            </a:r>
            <a:r>
              <a:rPr spc="-75" dirty="0"/>
              <a:t> </a:t>
            </a:r>
            <a:r>
              <a:rPr spc="-10" dirty="0"/>
              <a:t>Deep</a:t>
            </a:r>
            <a:r>
              <a:rPr spc="-65" dirty="0"/>
              <a:t> </a:t>
            </a:r>
            <a:r>
              <a:rPr spc="-15" dirty="0"/>
              <a:t>Dive-</a:t>
            </a:r>
            <a:r>
              <a:rPr spc="-60" dirty="0"/>
              <a:t> </a:t>
            </a:r>
            <a:r>
              <a:rPr spc="-15" dirty="0"/>
              <a:t>How</a:t>
            </a:r>
            <a:r>
              <a:rPr spc="-65" dirty="0"/>
              <a:t> </a:t>
            </a:r>
            <a:r>
              <a:rPr spc="-15" dirty="0"/>
              <a:t>to</a:t>
            </a:r>
            <a:r>
              <a:rPr spc="-50" dirty="0"/>
              <a:t> </a:t>
            </a:r>
            <a:r>
              <a:rPr spc="-25" dirty="0"/>
              <a:t>have</a:t>
            </a:r>
            <a:r>
              <a:rPr spc="-75" dirty="0"/>
              <a:t> </a:t>
            </a:r>
            <a:r>
              <a:rPr dirty="0"/>
              <a:t>an</a:t>
            </a:r>
            <a:r>
              <a:rPr spc="-50" dirty="0"/>
              <a:t> </a:t>
            </a:r>
            <a:r>
              <a:rPr spc="-30" dirty="0"/>
              <a:t>effective</a:t>
            </a:r>
            <a:r>
              <a:rPr spc="-75" dirty="0"/>
              <a:t> </a:t>
            </a:r>
            <a:r>
              <a:rPr spc="-30" dirty="0"/>
              <a:t>conversation?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56332" y="906780"/>
            <a:ext cx="9395460" cy="1077595"/>
          </a:xfrm>
          <a:prstGeom prst="rect">
            <a:avLst/>
          </a:prstGeom>
          <a:solidFill>
            <a:srgbClr val="DAE2F3"/>
          </a:solidFill>
        </p:spPr>
        <p:txBody>
          <a:bodyPr vert="horz" wrap="square" lIns="0" tIns="33655" rIns="0" bIns="0" rtlCol="0">
            <a:spAutoFit/>
          </a:bodyPr>
          <a:lstStyle/>
          <a:p>
            <a:pPr marL="377825" indent="-28702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377825" algn="l"/>
                <a:tab pos="378460" algn="l"/>
              </a:tabLst>
            </a:pPr>
            <a:r>
              <a:rPr sz="1600" spc="-5" dirty="0">
                <a:latin typeface="Calibri"/>
                <a:cs typeface="Calibri"/>
              </a:rPr>
              <a:t>Lead a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discussion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about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how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your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team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did, what surprised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them,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strengths/opportunities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work</a:t>
            </a:r>
            <a:endParaRPr sz="1600">
              <a:latin typeface="Calibri"/>
              <a:cs typeface="Calibri"/>
            </a:endParaRPr>
          </a:p>
          <a:p>
            <a:pPr marL="377825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Calibri"/>
                <a:cs typeface="Calibri"/>
              </a:rPr>
              <a:t>environment,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and</a:t>
            </a:r>
            <a:r>
              <a:rPr sz="1600" spc="-10" dirty="0">
                <a:latin typeface="Calibri"/>
                <a:cs typeface="Calibri"/>
              </a:rPr>
              <a:t> where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they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believe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 team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should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focus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their time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improve.</a:t>
            </a:r>
            <a:endParaRPr sz="1600">
              <a:latin typeface="Calibri"/>
              <a:cs typeface="Calibri"/>
            </a:endParaRPr>
          </a:p>
          <a:p>
            <a:pPr marL="377825" indent="-287020">
              <a:lnSpc>
                <a:spcPct val="100000"/>
              </a:lnSpc>
              <a:buFont typeface="Arial MT"/>
              <a:buChar char="•"/>
              <a:tabLst>
                <a:tab pos="377825" algn="l"/>
                <a:tab pos="378460" algn="l"/>
              </a:tabLst>
            </a:pPr>
            <a:r>
              <a:rPr sz="1600" spc="-45" dirty="0">
                <a:latin typeface="Calibri"/>
                <a:cs typeface="Calibri"/>
              </a:rPr>
              <a:t>You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may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use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top</a:t>
            </a:r>
            <a:r>
              <a:rPr sz="1600" spc="-5" dirty="0">
                <a:latin typeface="Calibri"/>
                <a:cs typeface="Calibri"/>
              </a:rPr>
              <a:t> and</a:t>
            </a:r>
            <a:r>
              <a:rPr sz="1600" spc="-10" dirty="0">
                <a:latin typeface="Calibri"/>
                <a:cs typeface="Calibri"/>
              </a:rPr>
              <a:t> bottom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5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statements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generate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discussion.</a:t>
            </a:r>
            <a:endParaRPr sz="1600">
              <a:latin typeface="Calibri"/>
              <a:cs typeface="Calibri"/>
            </a:endParaRPr>
          </a:p>
          <a:p>
            <a:pPr marL="377825" indent="-287020">
              <a:lnSpc>
                <a:spcPct val="100000"/>
              </a:lnSpc>
              <a:buFont typeface="Arial MT"/>
              <a:buChar char="•"/>
              <a:tabLst>
                <a:tab pos="377825" algn="l"/>
                <a:tab pos="378460" algn="l"/>
              </a:tabLst>
            </a:pPr>
            <a:r>
              <a:rPr sz="1600" spc="-45" dirty="0">
                <a:latin typeface="Calibri"/>
                <a:cs typeface="Calibri"/>
              </a:rPr>
              <a:t>You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could</a:t>
            </a:r>
            <a:r>
              <a:rPr sz="1600" spc="-5" dirty="0">
                <a:latin typeface="Calibri"/>
                <a:cs typeface="Calibri"/>
              </a:rPr>
              <a:t> also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use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delta </a:t>
            </a:r>
            <a:r>
              <a:rPr sz="1600" spc="-15" dirty="0">
                <a:latin typeface="Calibri"/>
                <a:cs typeface="Calibri"/>
              </a:rPr>
              <a:t>from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previous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year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or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delta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from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group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average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drive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conversations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56332" y="2209800"/>
            <a:ext cx="9395460" cy="3785870"/>
          </a:xfrm>
          <a:custGeom>
            <a:avLst/>
            <a:gdLst/>
            <a:ahLst/>
            <a:cxnLst/>
            <a:rect l="l" t="t" r="r" b="b"/>
            <a:pathLst>
              <a:path w="9395460" h="3785870">
                <a:moveTo>
                  <a:pt x="9395460" y="0"/>
                </a:moveTo>
                <a:lnTo>
                  <a:pt x="0" y="0"/>
                </a:lnTo>
                <a:lnTo>
                  <a:pt x="0" y="3785616"/>
                </a:lnTo>
                <a:lnTo>
                  <a:pt x="9395460" y="3785616"/>
                </a:lnTo>
                <a:lnTo>
                  <a:pt x="9395460" y="0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735072" y="2230881"/>
            <a:ext cx="9227185" cy="3439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Tips </a:t>
            </a:r>
            <a:r>
              <a:rPr sz="1600" b="1" spc="-15" dirty="0">
                <a:latin typeface="Calibri"/>
                <a:cs typeface="Calibri"/>
              </a:rPr>
              <a:t>for</a:t>
            </a:r>
            <a:r>
              <a:rPr sz="1600" b="1" spc="15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Discussing</a:t>
            </a:r>
            <a:r>
              <a:rPr sz="1600" b="1" spc="1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Employee Engagement</a:t>
            </a:r>
            <a:r>
              <a:rPr sz="1600" b="1" spc="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Results: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50">
              <a:latin typeface="Calibri"/>
              <a:cs typeface="Calibri"/>
            </a:endParaRPr>
          </a:p>
          <a:p>
            <a:pPr marL="299085" marR="198755" indent="-287020" algn="just">
              <a:lnSpc>
                <a:spcPct val="100000"/>
              </a:lnSpc>
              <a:buFont typeface="Arial MT"/>
              <a:buChar char="•"/>
              <a:tabLst>
                <a:tab pos="299720" algn="l"/>
              </a:tabLst>
            </a:pPr>
            <a:r>
              <a:rPr sz="1600" spc="-10" dirty="0">
                <a:latin typeface="Calibri"/>
                <a:cs typeface="Calibri"/>
              </a:rPr>
              <a:t>Emphasize </a:t>
            </a: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b="1" spc="-10" dirty="0">
                <a:latin typeface="Calibri"/>
                <a:cs typeface="Calibri"/>
              </a:rPr>
              <a:t>confidentiality </a:t>
            </a:r>
            <a:r>
              <a:rPr sz="1600" b="1" spc="-5" dirty="0">
                <a:latin typeface="Calibri"/>
                <a:cs typeface="Calibri"/>
              </a:rPr>
              <a:t>of the </a:t>
            </a:r>
            <a:r>
              <a:rPr sz="1600" b="1" spc="-10" dirty="0">
                <a:latin typeface="Calibri"/>
                <a:cs typeface="Calibri"/>
              </a:rPr>
              <a:t>survey </a:t>
            </a:r>
            <a:r>
              <a:rPr sz="1600" spc="-5" dirty="0">
                <a:latin typeface="Calibri"/>
                <a:cs typeface="Calibri"/>
              </a:rPr>
              <a:t>and the </a:t>
            </a:r>
            <a:r>
              <a:rPr sz="1600" spc="-10" dirty="0">
                <a:latin typeface="Calibri"/>
                <a:cs typeface="Calibri"/>
              </a:rPr>
              <a:t>importance </a:t>
            </a:r>
            <a:r>
              <a:rPr sz="1600" spc="-5" dirty="0">
                <a:latin typeface="Calibri"/>
                <a:cs typeface="Calibri"/>
              </a:rPr>
              <a:t>of </a:t>
            </a:r>
            <a:r>
              <a:rPr sz="1600" spc="-10" dirty="0">
                <a:latin typeface="Calibri"/>
                <a:cs typeface="Calibri"/>
              </a:rPr>
              <a:t>getting feedback </a:t>
            </a:r>
            <a:r>
              <a:rPr sz="1600" spc="-15" dirty="0">
                <a:latin typeface="Calibri"/>
                <a:cs typeface="Calibri"/>
              </a:rPr>
              <a:t>from </a:t>
            </a: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employees. </a:t>
            </a:r>
            <a:r>
              <a:rPr sz="1600" spc="-5" dirty="0">
                <a:latin typeface="Calibri"/>
                <a:cs typeface="Calibri"/>
              </a:rPr>
              <a:t> This is a </a:t>
            </a:r>
            <a:r>
              <a:rPr sz="1600" spc="-10" dirty="0">
                <a:latin typeface="Calibri"/>
                <a:cs typeface="Calibri"/>
              </a:rPr>
              <a:t>conversation, </a:t>
            </a:r>
            <a:r>
              <a:rPr sz="1600" spc="-5" dirty="0">
                <a:latin typeface="Calibri"/>
                <a:cs typeface="Calibri"/>
              </a:rPr>
              <a:t>not a </a:t>
            </a:r>
            <a:r>
              <a:rPr sz="1600" spc="-10" dirty="0">
                <a:latin typeface="Calibri"/>
                <a:cs typeface="Calibri"/>
              </a:rPr>
              <a:t>presentation. </a:t>
            </a: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objective </a:t>
            </a:r>
            <a:r>
              <a:rPr sz="1600" spc="-5" dirty="0">
                <a:latin typeface="Calibri"/>
                <a:cs typeface="Calibri"/>
              </a:rPr>
              <a:t>is </a:t>
            </a:r>
            <a:r>
              <a:rPr sz="1600" spc="-10" dirty="0">
                <a:latin typeface="Calibri"/>
                <a:cs typeface="Calibri"/>
              </a:rPr>
              <a:t>to move </a:t>
            </a:r>
            <a:r>
              <a:rPr sz="1600" spc="-15" dirty="0">
                <a:latin typeface="Calibri"/>
                <a:cs typeface="Calibri"/>
              </a:rPr>
              <a:t>forward, </a:t>
            </a:r>
            <a:r>
              <a:rPr sz="1600" spc="-5" dirty="0">
                <a:latin typeface="Calibri"/>
                <a:cs typeface="Calibri"/>
              </a:rPr>
              <a:t>not </a:t>
            </a:r>
            <a:r>
              <a:rPr sz="1600" spc="-10" dirty="0">
                <a:latin typeface="Calibri"/>
                <a:cs typeface="Calibri"/>
              </a:rPr>
              <a:t>to </a:t>
            </a:r>
            <a:r>
              <a:rPr sz="1600" spc="-5" dirty="0">
                <a:latin typeface="Calibri"/>
                <a:cs typeface="Calibri"/>
              </a:rPr>
              <a:t>know who said what in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their </a:t>
            </a:r>
            <a:r>
              <a:rPr sz="1600" spc="-25" dirty="0">
                <a:latin typeface="Calibri"/>
                <a:cs typeface="Calibri"/>
              </a:rPr>
              <a:t>survey.</a:t>
            </a:r>
            <a:endParaRPr sz="16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Calibri"/>
                <a:cs typeface="Calibri"/>
              </a:rPr>
              <a:t>If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scores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are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less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than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70%,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encourage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that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next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time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we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could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better;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If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above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80%,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congratulate.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It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is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not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necessarily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important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go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through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every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item,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but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focus</a:t>
            </a:r>
            <a:r>
              <a:rPr sz="1600" b="1" spc="30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on</a:t>
            </a:r>
            <a:r>
              <a:rPr sz="1600" b="1" spc="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top</a:t>
            </a:r>
            <a:r>
              <a:rPr sz="1600" b="1" spc="10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5 positive,</a:t>
            </a:r>
            <a:r>
              <a:rPr sz="1600" b="1" spc="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opportunity</a:t>
            </a:r>
            <a:r>
              <a:rPr sz="1600" b="1" spc="50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areas,</a:t>
            </a:r>
            <a:r>
              <a:rPr sz="1600" b="1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and</a:t>
            </a:r>
            <a:r>
              <a:rPr sz="1600" b="1" spc="20" dirty="0">
                <a:latin typeface="Calibri"/>
                <a:cs typeface="Calibri"/>
              </a:rPr>
              <a:t> </a:t>
            </a:r>
            <a:r>
              <a:rPr sz="1600" b="1" spc="-15" dirty="0">
                <a:latin typeface="Calibri"/>
                <a:cs typeface="Calibri"/>
              </a:rPr>
              <a:t>any </a:t>
            </a:r>
            <a:r>
              <a:rPr sz="1600" b="1" spc="-345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important</a:t>
            </a:r>
            <a:r>
              <a:rPr sz="1600" b="1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gap</a:t>
            </a:r>
            <a:r>
              <a:rPr sz="1600" b="1" spc="1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scores</a:t>
            </a:r>
            <a:r>
              <a:rPr sz="1600" b="1" spc="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from</a:t>
            </a:r>
            <a:r>
              <a:rPr sz="1600" b="1" spc="30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the </a:t>
            </a:r>
            <a:r>
              <a:rPr sz="1600" b="1" spc="-10" dirty="0">
                <a:latin typeface="Calibri"/>
                <a:cs typeface="Calibri"/>
              </a:rPr>
              <a:t>engagement</a:t>
            </a:r>
            <a:r>
              <a:rPr sz="1600" b="1" spc="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reports.</a:t>
            </a:r>
            <a:endParaRPr sz="1600">
              <a:latin typeface="Calibri"/>
              <a:cs typeface="Calibri"/>
            </a:endParaRPr>
          </a:p>
          <a:p>
            <a:pPr marL="299085" marR="132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10" dirty="0">
                <a:latin typeface="Calibri"/>
                <a:cs typeface="Calibri"/>
              </a:rPr>
              <a:t>Start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off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with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what</a:t>
            </a:r>
            <a:r>
              <a:rPr sz="1600" b="1" spc="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worked</a:t>
            </a:r>
            <a:r>
              <a:rPr sz="1600" b="1" spc="15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really</a:t>
            </a:r>
            <a:r>
              <a:rPr sz="1600" b="1" spc="-10" dirty="0">
                <a:latin typeface="Calibri"/>
                <a:cs typeface="Calibri"/>
              </a:rPr>
              <a:t> well</a:t>
            </a:r>
            <a:r>
              <a:rPr sz="1600" b="1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last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year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that we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should</a:t>
            </a:r>
            <a:r>
              <a:rPr sz="1600" spc="-10" dirty="0">
                <a:latin typeface="Calibri"/>
                <a:cs typeface="Calibri"/>
              </a:rPr>
              <a:t> continue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doing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this</a:t>
            </a:r>
            <a:r>
              <a:rPr sz="1600" spc="-10" dirty="0">
                <a:latin typeface="Calibri"/>
                <a:cs typeface="Calibri"/>
              </a:rPr>
              <a:t> year?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This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will </a:t>
            </a:r>
            <a:r>
              <a:rPr sz="1600" spc="-10" dirty="0">
                <a:latin typeface="Calibri"/>
                <a:cs typeface="Calibri"/>
              </a:rPr>
              <a:t>generally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get</a:t>
            </a:r>
            <a:r>
              <a:rPr sz="1600" spc="-5" dirty="0">
                <a:latin typeface="Calibri"/>
                <a:cs typeface="Calibri"/>
              </a:rPr>
              <a:t> the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team talking.</a:t>
            </a:r>
            <a:endParaRPr sz="16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good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way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start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this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discussion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asking</a:t>
            </a:r>
            <a:r>
              <a:rPr sz="1600" b="1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what</a:t>
            </a:r>
            <a:r>
              <a:rPr sz="1600" b="1" spc="15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each </a:t>
            </a:r>
            <a:r>
              <a:rPr sz="1600" b="1" spc="-10" dirty="0">
                <a:latin typeface="Calibri"/>
                <a:cs typeface="Calibri"/>
              </a:rPr>
              <a:t>question</a:t>
            </a:r>
            <a:r>
              <a:rPr sz="1600" b="1" spc="1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means</a:t>
            </a:r>
            <a:r>
              <a:rPr sz="1600" b="1" spc="1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to</a:t>
            </a:r>
            <a:r>
              <a:rPr sz="1600" b="1" spc="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the</a:t>
            </a:r>
            <a:r>
              <a:rPr sz="1600" b="1" spc="5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employees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certain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questions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may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have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been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interpreted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 </a:t>
            </a:r>
            <a:r>
              <a:rPr sz="1600" spc="-15" dirty="0">
                <a:latin typeface="Calibri"/>
                <a:cs typeface="Calibri"/>
              </a:rPr>
              <a:t>different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ways,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so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it is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important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gain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employees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context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meaning.</a:t>
            </a:r>
            <a:endParaRPr sz="16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Calibri"/>
                <a:cs typeface="Calibri"/>
              </a:rPr>
              <a:t>It might be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interesting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ask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for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b="1" spc="-15" dirty="0">
                <a:latin typeface="Calibri"/>
                <a:cs typeface="Calibri"/>
              </a:rPr>
              <a:t>team</a:t>
            </a:r>
            <a:r>
              <a:rPr sz="1600" b="1" dirty="0">
                <a:latin typeface="Calibri"/>
                <a:cs typeface="Calibri"/>
              </a:rPr>
              <a:t> </a:t>
            </a:r>
            <a:r>
              <a:rPr sz="1600" b="1" spc="-15" dirty="0">
                <a:latin typeface="Calibri"/>
                <a:cs typeface="Calibri"/>
              </a:rPr>
              <a:t>to</a:t>
            </a:r>
            <a:r>
              <a:rPr sz="1600" b="1" spc="1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highlight</a:t>
            </a:r>
            <a:r>
              <a:rPr sz="1600" b="1" spc="10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the</a:t>
            </a:r>
            <a:r>
              <a:rPr sz="1600" b="1" spc="15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key</a:t>
            </a:r>
            <a:r>
              <a:rPr sz="1600" b="1" spc="5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pain</a:t>
            </a:r>
            <a:r>
              <a:rPr sz="1600" b="1" spc="10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points</a:t>
            </a:r>
            <a:r>
              <a:rPr sz="1600" b="1" spc="1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they</a:t>
            </a:r>
            <a:r>
              <a:rPr sz="1600" b="1" spc="1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experience</a:t>
            </a:r>
            <a:r>
              <a:rPr sz="1600" b="1" spc="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around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topic</a:t>
            </a:r>
            <a:endParaRPr sz="16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Calibri"/>
                <a:cs typeface="Calibri"/>
              </a:rPr>
              <a:t>Ask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employees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what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workplace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would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need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look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like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 </a:t>
            </a:r>
            <a:r>
              <a:rPr sz="1600" spc="-15" dirty="0">
                <a:latin typeface="Calibri"/>
                <a:cs typeface="Calibri"/>
              </a:rPr>
              <a:t>order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for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question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or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gap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improve.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826242" y="6118605"/>
            <a:ext cx="991235" cy="497840"/>
            <a:chOff x="10826242" y="6118605"/>
            <a:chExt cx="991235" cy="497840"/>
          </a:xfrm>
        </p:grpSpPr>
        <p:sp>
          <p:nvSpPr>
            <p:cNvPr id="7" name="object 7"/>
            <p:cNvSpPr/>
            <p:nvPr/>
          </p:nvSpPr>
          <p:spPr>
            <a:xfrm>
              <a:off x="10832592" y="6124955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4" h="485140">
                  <a:moveTo>
                    <a:pt x="242315" y="0"/>
                  </a:moveTo>
                  <a:lnTo>
                    <a:pt x="0" y="242316"/>
                  </a:lnTo>
                  <a:lnTo>
                    <a:pt x="242315" y="484632"/>
                  </a:lnTo>
                  <a:lnTo>
                    <a:pt x="242315" y="363474"/>
                  </a:lnTo>
                  <a:lnTo>
                    <a:pt x="978407" y="363474"/>
                  </a:lnTo>
                  <a:lnTo>
                    <a:pt x="978407" y="121158"/>
                  </a:lnTo>
                  <a:lnTo>
                    <a:pt x="242315" y="121158"/>
                  </a:lnTo>
                  <a:lnTo>
                    <a:pt x="24231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832592" y="6124955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4" h="485140">
                  <a:moveTo>
                    <a:pt x="0" y="242316"/>
                  </a:moveTo>
                  <a:lnTo>
                    <a:pt x="242315" y="0"/>
                  </a:lnTo>
                  <a:lnTo>
                    <a:pt x="242315" y="121158"/>
                  </a:lnTo>
                  <a:lnTo>
                    <a:pt x="978407" y="121158"/>
                  </a:lnTo>
                  <a:lnTo>
                    <a:pt x="978407" y="363474"/>
                  </a:lnTo>
                  <a:lnTo>
                    <a:pt x="242315" y="363474"/>
                  </a:lnTo>
                  <a:lnTo>
                    <a:pt x="242315" y="484632"/>
                  </a:lnTo>
                  <a:lnTo>
                    <a:pt x="0" y="24231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3" y="1652016"/>
            <a:ext cx="2078736" cy="34672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5487" y="890016"/>
            <a:ext cx="11344910" cy="3970020"/>
          </a:xfrm>
          <a:custGeom>
            <a:avLst/>
            <a:gdLst/>
            <a:ahLst/>
            <a:cxnLst/>
            <a:rect l="l" t="t" r="r" b="b"/>
            <a:pathLst>
              <a:path w="11344910" h="3970020">
                <a:moveTo>
                  <a:pt x="11344656" y="0"/>
                </a:moveTo>
                <a:lnTo>
                  <a:pt x="0" y="0"/>
                </a:lnTo>
                <a:lnTo>
                  <a:pt x="0" y="3970020"/>
                </a:lnTo>
                <a:lnTo>
                  <a:pt x="11344656" y="3970020"/>
                </a:lnTo>
                <a:lnTo>
                  <a:pt x="11344656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7012" y="4953000"/>
            <a:ext cx="11343640" cy="1477010"/>
          </a:xfrm>
          <a:custGeom>
            <a:avLst/>
            <a:gdLst/>
            <a:ahLst/>
            <a:cxnLst/>
            <a:rect l="l" t="t" r="r" b="b"/>
            <a:pathLst>
              <a:path w="11343640" h="1477010">
                <a:moveTo>
                  <a:pt x="11343132" y="0"/>
                </a:moveTo>
                <a:lnTo>
                  <a:pt x="0" y="0"/>
                </a:lnTo>
                <a:lnTo>
                  <a:pt x="0" y="1476756"/>
                </a:lnTo>
                <a:lnTo>
                  <a:pt x="11343132" y="1476756"/>
                </a:lnTo>
                <a:lnTo>
                  <a:pt x="11343132" y="0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55142" y="337184"/>
            <a:ext cx="11167110" cy="6031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87325" algn="ctr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Calibri Light"/>
                <a:cs typeface="Calibri Light"/>
              </a:rPr>
              <a:t>Effective</a:t>
            </a:r>
            <a:r>
              <a:rPr sz="1800" spc="-50" dirty="0">
                <a:latin typeface="Calibri Light"/>
                <a:cs typeface="Calibri Light"/>
              </a:rPr>
              <a:t> </a:t>
            </a:r>
            <a:r>
              <a:rPr sz="1800" spc="-10" dirty="0">
                <a:latin typeface="Calibri Light"/>
                <a:cs typeface="Calibri Light"/>
              </a:rPr>
              <a:t>Action</a:t>
            </a:r>
            <a:r>
              <a:rPr sz="1800" spc="-65" dirty="0">
                <a:latin typeface="Calibri Light"/>
                <a:cs typeface="Calibri Light"/>
              </a:rPr>
              <a:t> </a:t>
            </a:r>
            <a:r>
              <a:rPr sz="1800" spc="-15" dirty="0">
                <a:latin typeface="Calibri Light"/>
                <a:cs typeface="Calibri Light"/>
              </a:rPr>
              <a:t>Planning-</a:t>
            </a:r>
            <a:r>
              <a:rPr sz="1800" spc="-50" dirty="0">
                <a:latin typeface="Calibri Light"/>
                <a:cs typeface="Calibri Light"/>
              </a:rPr>
              <a:t> </a:t>
            </a:r>
            <a:r>
              <a:rPr sz="1800" spc="-10" dirty="0">
                <a:latin typeface="Calibri Light"/>
                <a:cs typeface="Calibri Light"/>
              </a:rPr>
              <a:t>How</a:t>
            </a:r>
            <a:r>
              <a:rPr sz="1800" spc="-6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to</a:t>
            </a:r>
            <a:r>
              <a:rPr sz="1800" spc="-55" dirty="0">
                <a:latin typeface="Calibri Light"/>
                <a:cs typeface="Calibri Light"/>
              </a:rPr>
              <a:t> </a:t>
            </a:r>
            <a:r>
              <a:rPr sz="1800" spc="-20" dirty="0">
                <a:latin typeface="Calibri Light"/>
                <a:cs typeface="Calibri Light"/>
              </a:rPr>
              <a:t>have</a:t>
            </a:r>
            <a:r>
              <a:rPr sz="1800" spc="-5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an</a:t>
            </a:r>
            <a:r>
              <a:rPr sz="1800" spc="-30" dirty="0">
                <a:latin typeface="Calibri Light"/>
                <a:cs typeface="Calibri Light"/>
              </a:rPr>
              <a:t> </a:t>
            </a:r>
            <a:r>
              <a:rPr sz="1800" spc="-25" dirty="0">
                <a:latin typeface="Calibri Light"/>
                <a:cs typeface="Calibri Light"/>
              </a:rPr>
              <a:t>effective</a:t>
            </a:r>
            <a:r>
              <a:rPr sz="1800" spc="-55" dirty="0">
                <a:latin typeface="Calibri Light"/>
                <a:cs typeface="Calibri Light"/>
              </a:rPr>
              <a:t> </a:t>
            </a:r>
            <a:r>
              <a:rPr sz="1800" spc="-25" dirty="0">
                <a:latin typeface="Calibri Light"/>
                <a:cs typeface="Calibri Light"/>
              </a:rPr>
              <a:t>conversation?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00">
              <a:latin typeface="Calibri Light"/>
              <a:cs typeface="Calibri Light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libri"/>
                <a:cs typeface="Calibri"/>
              </a:rPr>
              <a:t>After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discussing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results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identifying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3-4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potential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areas</a:t>
            </a:r>
            <a:r>
              <a:rPr sz="1800" b="1" dirty="0">
                <a:latin typeface="Calibri"/>
                <a:cs typeface="Calibri"/>
              </a:rPr>
              <a:t> of</a:t>
            </a:r>
            <a:r>
              <a:rPr sz="1800" b="1" spc="-5" dirty="0">
                <a:latin typeface="Calibri"/>
                <a:cs typeface="Calibri"/>
              </a:rPr>
              <a:t> opportunity</a:t>
            </a:r>
            <a:r>
              <a:rPr sz="1800" spc="-5" dirty="0">
                <a:latin typeface="Calibri"/>
                <a:cs typeface="Calibri"/>
              </a:rPr>
              <a:t>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should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ask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team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800" spc="-15" dirty="0">
                <a:latin typeface="Calibri"/>
                <a:cs typeface="Calibri"/>
              </a:rPr>
              <a:t>generate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solutions.</a:t>
            </a:r>
            <a:endParaRPr sz="1800">
              <a:latin typeface="Calibri"/>
              <a:cs typeface="Calibri"/>
            </a:endParaRPr>
          </a:p>
          <a:p>
            <a:pPr marL="299085" marR="29845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10" dirty="0">
                <a:latin typeface="Calibri"/>
                <a:cs typeface="Calibri"/>
              </a:rPr>
              <a:t>Allow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team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space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time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brainstorm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potential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action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Keep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mind,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start,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looking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quantity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over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quality.</a:t>
            </a:r>
            <a:endParaRPr sz="1800">
              <a:latin typeface="Calibri"/>
              <a:cs typeface="Calibri"/>
            </a:endParaRPr>
          </a:p>
          <a:p>
            <a:pPr marL="756285" marR="243840" lvl="1" indent="-287020">
              <a:lnSpc>
                <a:spcPct val="100000"/>
              </a:lnSpc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1800" spc="-50" dirty="0">
                <a:latin typeface="Calibri"/>
                <a:cs typeface="Calibri"/>
              </a:rPr>
              <a:t>You</a:t>
            </a:r>
            <a:r>
              <a:rPr sz="1800" spc="-5" dirty="0">
                <a:latin typeface="Calibri"/>
                <a:cs typeface="Calibri"/>
              </a:rPr>
              <a:t> can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this</a:t>
            </a:r>
            <a:r>
              <a:rPr sz="1800" dirty="0">
                <a:latin typeface="Calibri"/>
                <a:cs typeface="Calibri"/>
              </a:rPr>
              <a:t> either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member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putting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ideas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post-it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notes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(this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works</a:t>
            </a:r>
            <a:r>
              <a:rPr sz="1800" spc="-5" dirty="0">
                <a:latin typeface="Calibri"/>
                <a:cs typeface="Calibri"/>
              </a:rPr>
              <a:t> well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have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quieter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team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members),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</a:t>
            </a:r>
            <a:endParaRPr sz="1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1800" spc="-10" dirty="0">
                <a:latin typeface="Calibri"/>
                <a:cs typeface="Calibri"/>
              </a:rPr>
              <a:t>Having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team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member </a:t>
            </a:r>
            <a:r>
              <a:rPr sz="1800" spc="-5" dirty="0">
                <a:latin typeface="Calibri"/>
                <a:cs typeface="Calibri"/>
              </a:rPr>
              <a:t>act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 a</a:t>
            </a:r>
            <a:r>
              <a:rPr sz="1800" spc="-5" dirty="0">
                <a:latin typeface="Calibri"/>
                <a:cs typeface="Calibri"/>
              </a:rPr>
              <a:t> scribe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capture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ideas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dirty="0">
                <a:latin typeface="Calibri"/>
                <a:cs typeface="Calibri"/>
              </a:rPr>
              <a:t> being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mentioned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libri"/>
                <a:cs typeface="Calibri"/>
              </a:rPr>
              <a:t>Once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5" dirty="0">
                <a:latin typeface="Calibri"/>
                <a:cs typeface="Calibri"/>
              </a:rPr>
              <a:t> ideas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out,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might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want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ask the </a:t>
            </a:r>
            <a:r>
              <a:rPr sz="1800" spc="-10" dirty="0">
                <a:latin typeface="Calibri"/>
                <a:cs typeface="Calibri"/>
              </a:rPr>
              <a:t>team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aggregate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any</a:t>
            </a:r>
            <a:r>
              <a:rPr sz="1800" dirty="0">
                <a:latin typeface="Calibri"/>
                <a:cs typeface="Calibri"/>
              </a:rPr>
              <a:t> ideas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similar 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strongly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related.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Ask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team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select,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which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from</a:t>
            </a:r>
            <a:r>
              <a:rPr sz="1800" dirty="0">
                <a:latin typeface="Calibri"/>
                <a:cs typeface="Calibri"/>
              </a:rPr>
              <a:t> all 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ideas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provided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</a:t>
            </a:r>
            <a:r>
              <a:rPr sz="1800" dirty="0">
                <a:latin typeface="Calibri"/>
                <a:cs typeface="Calibri"/>
              </a:rPr>
              <a:t> they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believe,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could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give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best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results.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Ask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team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elaborate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those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ideas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further,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think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potential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road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blocks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 support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might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need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results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desired.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What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would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great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look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like,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how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will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success be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measured.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As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team,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don’t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forget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discuss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how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everyone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would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like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be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held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accountable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-5" dirty="0">
                <a:latin typeface="Calibri"/>
                <a:cs typeface="Calibri"/>
              </a:rPr>
              <a:t> 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agreed on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actions.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Ask</a:t>
            </a:r>
            <a:r>
              <a:rPr sz="1800" spc="-15" dirty="0">
                <a:latin typeface="Calibri"/>
                <a:cs typeface="Calibri"/>
              </a:rPr>
              <a:t> for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volunteers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champion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area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plan.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will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champion’s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job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update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20" dirty="0">
                <a:latin typeface="Calibri"/>
                <a:cs typeface="Calibri"/>
              </a:rPr>
              <a:t>workgroup’s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progress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every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quarter.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Tips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Creating</a:t>
            </a:r>
            <a:r>
              <a:rPr sz="1800" spc="-5" dirty="0">
                <a:latin typeface="Calibri"/>
                <a:cs typeface="Calibri"/>
              </a:rPr>
              <a:t> Action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Plans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Calibri"/>
              <a:cs typeface="Calibri"/>
            </a:endParaRPr>
          </a:p>
          <a:p>
            <a:pPr marL="299085" marR="69977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b="1" spc="-5" dirty="0">
                <a:latin typeface="Calibri"/>
                <a:cs typeface="Calibri"/>
              </a:rPr>
              <a:t>Ensure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everyone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is</a:t>
            </a:r>
            <a:r>
              <a:rPr sz="1800" b="1" spc="-5" dirty="0">
                <a:latin typeface="Calibri"/>
                <a:cs typeface="Calibri"/>
              </a:rPr>
              <a:t> participating,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assertive </a:t>
            </a:r>
            <a:r>
              <a:rPr sz="1800" spc="-10" dirty="0">
                <a:latin typeface="Calibri"/>
                <a:cs typeface="Calibri"/>
              </a:rPr>
              <a:t>team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members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allowing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space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more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reserved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ones.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15" dirty="0">
                <a:latin typeface="Calibri"/>
                <a:cs typeface="Calibri"/>
              </a:rPr>
              <a:t>Retain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ideas,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only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start</a:t>
            </a:r>
            <a:r>
              <a:rPr sz="1800" spc="-10" dirty="0">
                <a:latin typeface="Calibri"/>
                <a:cs typeface="Calibri"/>
              </a:rPr>
              <a:t> narrowing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them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down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once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ideas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have</a:t>
            </a:r>
            <a:r>
              <a:rPr sz="1800" spc="-5" dirty="0">
                <a:latin typeface="Calibri"/>
                <a:cs typeface="Calibri"/>
              </a:rPr>
              <a:t> been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captured.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826242" y="6118605"/>
            <a:ext cx="991235" cy="497840"/>
            <a:chOff x="10826242" y="6118605"/>
            <a:chExt cx="991235" cy="497840"/>
          </a:xfrm>
        </p:grpSpPr>
        <p:sp>
          <p:nvSpPr>
            <p:cNvPr id="6" name="object 6"/>
            <p:cNvSpPr/>
            <p:nvPr/>
          </p:nvSpPr>
          <p:spPr>
            <a:xfrm>
              <a:off x="10832592" y="6124955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4" h="485140">
                  <a:moveTo>
                    <a:pt x="242315" y="0"/>
                  </a:moveTo>
                  <a:lnTo>
                    <a:pt x="0" y="242316"/>
                  </a:lnTo>
                  <a:lnTo>
                    <a:pt x="242315" y="484632"/>
                  </a:lnTo>
                  <a:lnTo>
                    <a:pt x="242315" y="363474"/>
                  </a:lnTo>
                  <a:lnTo>
                    <a:pt x="978407" y="363474"/>
                  </a:lnTo>
                  <a:lnTo>
                    <a:pt x="978407" y="121158"/>
                  </a:lnTo>
                  <a:lnTo>
                    <a:pt x="242315" y="121158"/>
                  </a:lnTo>
                  <a:lnTo>
                    <a:pt x="24231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832592" y="6124955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4" h="485140">
                  <a:moveTo>
                    <a:pt x="0" y="242316"/>
                  </a:moveTo>
                  <a:lnTo>
                    <a:pt x="242315" y="0"/>
                  </a:lnTo>
                  <a:lnTo>
                    <a:pt x="242315" y="121158"/>
                  </a:lnTo>
                  <a:lnTo>
                    <a:pt x="978407" y="121158"/>
                  </a:lnTo>
                  <a:lnTo>
                    <a:pt x="978407" y="363474"/>
                  </a:lnTo>
                  <a:lnTo>
                    <a:pt x="242315" y="363474"/>
                  </a:lnTo>
                  <a:lnTo>
                    <a:pt x="242315" y="484632"/>
                  </a:lnTo>
                  <a:lnTo>
                    <a:pt x="0" y="24231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0844" y="4119194"/>
            <a:ext cx="720153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888888"/>
                </a:solidFill>
                <a:latin typeface="Calibri"/>
                <a:cs typeface="Calibri"/>
              </a:rPr>
              <a:t>Step</a:t>
            </a:r>
            <a:r>
              <a:rPr spc="-1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888888"/>
                </a:solidFill>
                <a:latin typeface="Calibri"/>
                <a:cs typeface="Calibri"/>
              </a:rPr>
              <a:t>4:Document</a:t>
            </a:r>
            <a:r>
              <a:rPr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888888"/>
                </a:solidFill>
                <a:latin typeface="Calibri"/>
                <a:cs typeface="Calibri"/>
              </a:rPr>
              <a:t>your</a:t>
            </a:r>
            <a:r>
              <a:rPr dirty="0">
                <a:solidFill>
                  <a:srgbClr val="888888"/>
                </a:solidFill>
                <a:latin typeface="Calibri"/>
                <a:cs typeface="Calibri"/>
              </a:rPr>
              <a:t> actions</a:t>
            </a:r>
            <a:r>
              <a:rPr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888888"/>
                </a:solidFill>
                <a:latin typeface="Calibri"/>
                <a:cs typeface="Calibri"/>
              </a:rPr>
              <a:t>on</a:t>
            </a:r>
            <a:r>
              <a:rPr spc="-1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888888"/>
                </a:solidFill>
                <a:latin typeface="Calibri"/>
                <a:cs typeface="Calibri"/>
              </a:rPr>
              <a:t>Qualtrics</a:t>
            </a:r>
            <a:r>
              <a:rPr spc="-3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888888"/>
                </a:solidFill>
                <a:latin typeface="Calibri"/>
                <a:cs typeface="Calibri"/>
              </a:rPr>
              <a:t>and </a:t>
            </a:r>
            <a:r>
              <a:rPr spc="-20" dirty="0">
                <a:solidFill>
                  <a:srgbClr val="888888"/>
                </a:solidFill>
                <a:latin typeface="Calibri"/>
                <a:cs typeface="Calibri"/>
              </a:rPr>
              <a:t>keep </a:t>
            </a:r>
            <a:r>
              <a:rPr spc="-10" dirty="0">
                <a:solidFill>
                  <a:srgbClr val="888888"/>
                </a:solidFill>
                <a:latin typeface="Calibri"/>
                <a:cs typeface="Calibri"/>
              </a:rPr>
              <a:t>track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37203" y="2272283"/>
            <a:ext cx="8041005" cy="4525010"/>
          </a:xfrm>
          <a:custGeom>
            <a:avLst/>
            <a:gdLst/>
            <a:ahLst/>
            <a:cxnLst/>
            <a:rect l="l" t="t" r="r" b="b"/>
            <a:pathLst>
              <a:path w="8041005" h="4525009">
                <a:moveTo>
                  <a:pt x="8040624" y="0"/>
                </a:moveTo>
                <a:lnTo>
                  <a:pt x="0" y="0"/>
                </a:lnTo>
                <a:lnTo>
                  <a:pt x="0" y="4524756"/>
                </a:lnTo>
                <a:lnTo>
                  <a:pt x="8040624" y="4524756"/>
                </a:lnTo>
                <a:lnTo>
                  <a:pt x="8040624" y="0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2132" y="100965"/>
            <a:ext cx="11211560" cy="660590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79070" algn="ctr">
              <a:lnSpc>
                <a:spcPct val="100000"/>
              </a:lnSpc>
              <a:spcBef>
                <a:spcPts val="930"/>
              </a:spcBef>
            </a:pPr>
            <a:r>
              <a:rPr sz="1800" spc="-20" dirty="0">
                <a:latin typeface="Calibri Light"/>
                <a:cs typeface="Calibri Light"/>
              </a:rPr>
              <a:t>Keeping</a:t>
            </a:r>
            <a:r>
              <a:rPr sz="1800" spc="-6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a</a:t>
            </a:r>
            <a:r>
              <a:rPr sz="1800" spc="-20" dirty="0">
                <a:latin typeface="Calibri Light"/>
                <a:cs typeface="Calibri Light"/>
              </a:rPr>
              <a:t> </a:t>
            </a:r>
            <a:r>
              <a:rPr sz="1800" spc="-10" dirty="0">
                <a:latin typeface="Calibri Light"/>
                <a:cs typeface="Calibri Light"/>
              </a:rPr>
              <a:t>track</a:t>
            </a:r>
            <a:r>
              <a:rPr sz="1800" spc="-60" dirty="0">
                <a:latin typeface="Calibri Light"/>
                <a:cs typeface="Calibri Light"/>
              </a:rPr>
              <a:t> </a:t>
            </a:r>
            <a:r>
              <a:rPr sz="1800" spc="-5" dirty="0">
                <a:latin typeface="Calibri Light"/>
                <a:cs typeface="Calibri Light"/>
              </a:rPr>
              <a:t>of</a:t>
            </a:r>
            <a:r>
              <a:rPr sz="1800" spc="-40" dirty="0">
                <a:latin typeface="Calibri Light"/>
                <a:cs typeface="Calibri Light"/>
              </a:rPr>
              <a:t> </a:t>
            </a:r>
            <a:r>
              <a:rPr sz="1800" spc="-15" dirty="0">
                <a:latin typeface="Calibri Light"/>
                <a:cs typeface="Calibri Light"/>
              </a:rPr>
              <a:t>your</a:t>
            </a:r>
            <a:r>
              <a:rPr sz="1800" spc="-60" dirty="0">
                <a:latin typeface="Calibri Light"/>
                <a:cs typeface="Calibri Light"/>
              </a:rPr>
              <a:t> </a:t>
            </a:r>
            <a:r>
              <a:rPr sz="1800" spc="-5" dirty="0">
                <a:latin typeface="Calibri Light"/>
                <a:cs typeface="Calibri Light"/>
              </a:rPr>
              <a:t>action</a:t>
            </a:r>
            <a:r>
              <a:rPr sz="1800" spc="-70" dirty="0">
                <a:latin typeface="Calibri Light"/>
                <a:cs typeface="Calibri Light"/>
              </a:rPr>
              <a:t> </a:t>
            </a:r>
            <a:r>
              <a:rPr sz="1800" spc="-10" dirty="0">
                <a:latin typeface="Calibri Light"/>
                <a:cs typeface="Calibri Light"/>
              </a:rPr>
              <a:t>plan?</a:t>
            </a:r>
            <a:r>
              <a:rPr sz="1800" spc="-70" dirty="0">
                <a:latin typeface="Calibri Light"/>
                <a:cs typeface="Calibri Light"/>
              </a:rPr>
              <a:t> </a:t>
            </a:r>
            <a:r>
              <a:rPr sz="1800" spc="-10" dirty="0">
                <a:latin typeface="Calibri Light"/>
                <a:cs typeface="Calibri Light"/>
              </a:rPr>
              <a:t>How</a:t>
            </a:r>
            <a:r>
              <a:rPr sz="1800" spc="-6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to</a:t>
            </a:r>
            <a:r>
              <a:rPr sz="1800" spc="-55" dirty="0">
                <a:latin typeface="Calibri Light"/>
                <a:cs typeface="Calibri Light"/>
              </a:rPr>
              <a:t> </a:t>
            </a:r>
            <a:r>
              <a:rPr sz="1800" spc="-15" dirty="0">
                <a:latin typeface="Calibri Light"/>
                <a:cs typeface="Calibri Light"/>
              </a:rPr>
              <a:t>ensure</a:t>
            </a:r>
            <a:r>
              <a:rPr sz="1800" spc="-60" dirty="0">
                <a:latin typeface="Calibri Light"/>
                <a:cs typeface="Calibri Light"/>
              </a:rPr>
              <a:t> </a:t>
            </a:r>
            <a:r>
              <a:rPr sz="1800" spc="-15" dirty="0">
                <a:latin typeface="Calibri Light"/>
                <a:cs typeface="Calibri Light"/>
              </a:rPr>
              <a:t>ongoing</a:t>
            </a:r>
            <a:r>
              <a:rPr sz="1800" spc="-65" dirty="0">
                <a:latin typeface="Calibri Light"/>
                <a:cs typeface="Calibri Light"/>
              </a:rPr>
              <a:t> </a:t>
            </a:r>
            <a:r>
              <a:rPr sz="1800" spc="-20" dirty="0">
                <a:latin typeface="Calibri Light"/>
                <a:cs typeface="Calibri Light"/>
              </a:rPr>
              <a:t>progress?</a:t>
            </a:r>
            <a:endParaRPr sz="1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800" dirty="0">
                <a:latin typeface="Calibri"/>
                <a:cs typeface="Calibri"/>
              </a:rPr>
              <a:t>As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leader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workgroup,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it’s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job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keep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action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plan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track.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below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checklist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monthly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basis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ensure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you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setting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clear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expectations,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recognizing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employees,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communicating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right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messages,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team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maintaining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focus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and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accountability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team’s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action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plan.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https://www.qualtrics.com/blog/drive-accountability-action-employee-feedback/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200">
              <a:latin typeface="Calibri"/>
              <a:cs typeface="Calibri"/>
            </a:endParaRPr>
          </a:p>
          <a:p>
            <a:pPr marL="3227705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Arial"/>
                <a:cs typeface="Arial"/>
              </a:rPr>
              <a:t>Tips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for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Monitoring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Ongoing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Progress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Arial"/>
              <a:cs typeface="Arial"/>
            </a:endParaRPr>
          </a:p>
          <a:p>
            <a:pPr marL="3570604" marR="513080" indent="-342900">
              <a:lnSpc>
                <a:spcPct val="101099"/>
              </a:lnSpc>
              <a:spcBef>
                <a:spcPts val="5"/>
              </a:spcBef>
              <a:buAutoNum type="arabicPeriod"/>
              <a:tabLst>
                <a:tab pos="3570604" algn="l"/>
                <a:tab pos="3571240" algn="l"/>
              </a:tabLst>
            </a:pPr>
            <a:r>
              <a:rPr sz="1800" spc="-10" dirty="0">
                <a:latin typeface="Calibri"/>
                <a:cs typeface="Calibri"/>
              </a:rPr>
              <a:t>Utilize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multiple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communication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methods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reinforce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progress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(e.g., </a:t>
            </a:r>
            <a:r>
              <a:rPr sz="1800" spc="-15" dirty="0">
                <a:latin typeface="Calibri"/>
                <a:cs typeface="Calibri"/>
              </a:rPr>
              <a:t>status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20" dirty="0">
                <a:latin typeface="Calibri"/>
                <a:cs typeface="Calibri"/>
              </a:rPr>
              <a:t>e-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mails,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team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meetings,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quarterly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team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huddles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etc.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  <a:p>
            <a:pPr marL="3570604" indent="-343535">
              <a:lnSpc>
                <a:spcPts val="2135"/>
              </a:lnSpc>
              <a:buAutoNum type="arabicPeriod"/>
              <a:tabLst>
                <a:tab pos="3570604" algn="l"/>
                <a:tab pos="3571240" algn="l"/>
              </a:tabLst>
            </a:pPr>
            <a:r>
              <a:rPr sz="1800" spc="-15" dirty="0">
                <a:latin typeface="Calibri"/>
                <a:cs typeface="Calibri"/>
              </a:rPr>
              <a:t>Recognize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team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accomplishing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key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milestones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towards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goal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endParaRPr sz="1800">
              <a:latin typeface="Calibri"/>
              <a:cs typeface="Calibri"/>
            </a:endParaRPr>
          </a:p>
          <a:p>
            <a:pPr marL="3570604">
              <a:lnSpc>
                <a:spcPts val="2150"/>
              </a:lnSpc>
              <a:spcBef>
                <a:spcPts val="20"/>
              </a:spcBef>
            </a:pPr>
            <a:r>
              <a:rPr sz="1800" spc="-15" dirty="0">
                <a:latin typeface="Calibri"/>
                <a:cs typeface="Calibri"/>
              </a:rPr>
              <a:t>celebrate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way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meaningful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them</a:t>
            </a:r>
            <a:endParaRPr sz="1800">
              <a:latin typeface="Calibri"/>
              <a:cs typeface="Calibri"/>
            </a:endParaRPr>
          </a:p>
          <a:p>
            <a:pPr marL="3570604" indent="-343535">
              <a:lnSpc>
                <a:spcPts val="2150"/>
              </a:lnSpc>
              <a:buAutoNum type="arabicPeriod" startAt="3"/>
              <a:tabLst>
                <a:tab pos="3570604" algn="l"/>
                <a:tab pos="3571240" algn="l"/>
              </a:tabLst>
            </a:pPr>
            <a:r>
              <a:rPr sz="1800" spc="-10" dirty="0">
                <a:latin typeface="Calibri"/>
                <a:cs typeface="Calibri"/>
              </a:rPr>
              <a:t>Regularly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check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pulse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team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progress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 </a:t>
            </a:r>
            <a:r>
              <a:rPr sz="1800" spc="-5" dirty="0">
                <a:latin typeface="Calibri"/>
                <a:cs typeface="Calibri"/>
              </a:rPr>
              <a:t>ensure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goal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still</a:t>
            </a:r>
            <a:endParaRPr sz="1800">
              <a:latin typeface="Calibri"/>
              <a:cs typeface="Calibri"/>
            </a:endParaRPr>
          </a:p>
          <a:p>
            <a:pPr marL="3570604" marR="160020">
              <a:lnSpc>
                <a:spcPts val="2180"/>
              </a:lnSpc>
              <a:spcBef>
                <a:spcPts val="60"/>
              </a:spcBef>
            </a:pPr>
            <a:r>
              <a:rPr sz="1800" spc="-5" dirty="0">
                <a:latin typeface="Calibri"/>
                <a:cs typeface="Calibri"/>
              </a:rPr>
              <a:t>applicable–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valid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any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more,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adapt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goal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better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meet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needs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team.</a:t>
            </a:r>
            <a:endParaRPr sz="1800">
              <a:latin typeface="Calibri"/>
              <a:cs typeface="Calibri"/>
            </a:endParaRPr>
          </a:p>
          <a:p>
            <a:pPr marL="3570604" indent="-343535">
              <a:lnSpc>
                <a:spcPts val="2065"/>
              </a:lnSpc>
              <a:buAutoNum type="arabicPeriod" startAt="4"/>
              <a:tabLst>
                <a:tab pos="3570604" algn="l"/>
                <a:tab pos="3571240" algn="l"/>
              </a:tabLst>
            </a:pPr>
            <a:r>
              <a:rPr sz="1800" spc="-5" dirty="0">
                <a:latin typeface="Calibri"/>
                <a:cs typeface="Calibri"/>
              </a:rPr>
              <a:t>Plan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 </a:t>
            </a:r>
            <a:r>
              <a:rPr sz="1800" spc="-10" dirty="0">
                <a:latin typeface="Calibri"/>
                <a:cs typeface="Calibri"/>
              </a:rPr>
              <a:t>update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presentation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leadership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quarterly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(1-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May|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1-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Sep| </a:t>
            </a: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3570604">
              <a:lnSpc>
                <a:spcPts val="2150"/>
              </a:lnSpc>
              <a:spcBef>
                <a:spcPts val="25"/>
              </a:spcBef>
            </a:pPr>
            <a:r>
              <a:rPr sz="1800" spc="-5" dirty="0">
                <a:latin typeface="Calibri"/>
                <a:cs typeface="Calibri"/>
              </a:rPr>
              <a:t>Dec)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provide</a:t>
            </a:r>
            <a:r>
              <a:rPr sz="1800" dirty="0">
                <a:latin typeface="Calibri"/>
                <a:cs typeface="Calibri"/>
              </a:rPr>
              <a:t> 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status </a:t>
            </a:r>
            <a:r>
              <a:rPr sz="1800" spc="-10" dirty="0">
                <a:latin typeface="Calibri"/>
                <a:cs typeface="Calibri"/>
              </a:rPr>
              <a:t>update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ensure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accountability</a:t>
            </a:r>
            <a:endParaRPr sz="1800">
              <a:latin typeface="Calibri"/>
              <a:cs typeface="Calibri"/>
            </a:endParaRPr>
          </a:p>
          <a:p>
            <a:pPr marL="3570604" marR="304800" indent="-342900">
              <a:lnSpc>
                <a:spcPts val="2160"/>
              </a:lnSpc>
              <a:spcBef>
                <a:spcPts val="60"/>
              </a:spcBef>
              <a:buAutoNum type="arabicPeriod" startAt="5"/>
              <a:tabLst>
                <a:tab pos="3570604" algn="l"/>
                <a:tab pos="3571240" algn="l"/>
              </a:tabLst>
            </a:pPr>
            <a:r>
              <a:rPr sz="1800" dirty="0">
                <a:latin typeface="Calibri"/>
                <a:cs typeface="Calibri"/>
              </a:rPr>
              <a:t>If </a:t>
            </a:r>
            <a:r>
              <a:rPr sz="1800" spc="-10" dirty="0">
                <a:latin typeface="Calibri"/>
                <a:cs typeface="Calibri"/>
              </a:rPr>
              <a:t>your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team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accomplishes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their </a:t>
            </a:r>
            <a:r>
              <a:rPr sz="1800" spc="-5" dirty="0">
                <a:latin typeface="Calibri"/>
                <a:cs typeface="Calibri"/>
              </a:rPr>
              <a:t>goals,</a:t>
            </a:r>
            <a:r>
              <a:rPr sz="1800" spc="-10" dirty="0">
                <a:latin typeface="Calibri"/>
                <a:cs typeface="Calibri"/>
              </a:rPr>
              <a:t> revisit</a:t>
            </a:r>
            <a:r>
              <a:rPr sz="1800" dirty="0">
                <a:latin typeface="Calibri"/>
                <a:cs typeface="Calibri"/>
              </a:rPr>
              <a:t> the </a:t>
            </a:r>
            <a:r>
              <a:rPr sz="1800" spc="-10" dirty="0">
                <a:latin typeface="Calibri"/>
                <a:cs typeface="Calibri"/>
              </a:rPr>
              <a:t>current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plan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develop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new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opportunities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improvement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keep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process</a:t>
            </a:r>
            <a:r>
              <a:rPr sz="1800" spc="-5" dirty="0">
                <a:latin typeface="Calibri"/>
                <a:cs typeface="Calibri"/>
              </a:rPr>
              <a:t> alive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throughout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entire</a:t>
            </a:r>
            <a:endParaRPr sz="1800">
              <a:latin typeface="Calibri"/>
              <a:cs typeface="Calibri"/>
            </a:endParaRPr>
          </a:p>
          <a:p>
            <a:pPr marL="3570604">
              <a:lnSpc>
                <a:spcPts val="2100"/>
              </a:lnSpc>
            </a:pPr>
            <a:r>
              <a:rPr sz="1800" spc="-10" dirty="0">
                <a:latin typeface="Calibri"/>
                <a:cs typeface="Calibri"/>
              </a:rPr>
              <a:t>year</a:t>
            </a:r>
            <a:endParaRPr sz="1800">
              <a:latin typeface="Calibri"/>
              <a:cs typeface="Calibri"/>
            </a:endParaRPr>
          </a:p>
          <a:p>
            <a:pPr marL="3570604" indent="-343535">
              <a:lnSpc>
                <a:spcPts val="2150"/>
              </a:lnSpc>
              <a:buAutoNum type="arabicPeriod" startAt="6"/>
              <a:tabLst>
                <a:tab pos="3570604" algn="l"/>
                <a:tab pos="3571240" algn="l"/>
              </a:tabLst>
            </a:pPr>
            <a:r>
              <a:rPr sz="1800" spc="-5" dirty="0">
                <a:latin typeface="Calibri"/>
                <a:cs typeface="Calibri"/>
              </a:rPr>
              <a:t>When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discussing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ongoing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development,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ensure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team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knows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top</a:t>
            </a:r>
            <a:r>
              <a:rPr sz="1800" spc="-5" dirty="0">
                <a:latin typeface="Calibri"/>
                <a:cs typeface="Calibri"/>
              </a:rPr>
              <a:t> priority</a:t>
            </a:r>
            <a:endParaRPr sz="1800">
              <a:latin typeface="Calibri"/>
              <a:cs typeface="Calibri"/>
            </a:endParaRPr>
          </a:p>
          <a:p>
            <a:pPr marL="3570604">
              <a:lnSpc>
                <a:spcPct val="100000"/>
              </a:lnSpc>
            </a:pP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team</a:t>
            </a:r>
            <a:r>
              <a:rPr sz="1800" spc="-5" dirty="0">
                <a:latin typeface="Calibri"/>
                <a:cs typeface="Calibri"/>
              </a:rPr>
              <a:t> throughout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year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088" y="1940051"/>
            <a:ext cx="2980944" cy="42367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31AF67-50AC-9945-8132-5D49115061BB}"/>
              </a:ext>
            </a:extLst>
          </p:cNvPr>
          <p:cNvSpPr txBox="1"/>
          <p:nvPr/>
        </p:nvSpPr>
        <p:spPr>
          <a:xfrm>
            <a:off x="685800" y="2514600"/>
            <a:ext cx="10591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Qualtrics System</a:t>
            </a:r>
          </a:p>
        </p:txBody>
      </p:sp>
    </p:spTree>
    <p:extLst>
      <p:ext uri="{BB962C8B-B14F-4D97-AF65-F5344CB8AC3E}">
        <p14:creationId xmlns:p14="http://schemas.microsoft.com/office/powerpoint/2010/main" val="4207581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650D30-570C-7B25-C466-216345593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4800"/>
            <a:ext cx="10268046" cy="646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419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70323" y="284734"/>
            <a:ext cx="36150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 Light"/>
                <a:cs typeface="Calibri Light"/>
              </a:rPr>
              <a:t>Document</a:t>
            </a:r>
            <a:r>
              <a:rPr sz="1800" spc="-50" dirty="0">
                <a:latin typeface="Calibri Light"/>
                <a:cs typeface="Calibri Light"/>
              </a:rPr>
              <a:t> </a:t>
            </a:r>
            <a:r>
              <a:rPr sz="1800" spc="-20" dirty="0">
                <a:latin typeface="Calibri Light"/>
                <a:cs typeface="Calibri Light"/>
              </a:rPr>
              <a:t>your</a:t>
            </a:r>
            <a:r>
              <a:rPr sz="1800" spc="-40" dirty="0">
                <a:latin typeface="Calibri Light"/>
                <a:cs typeface="Calibri Light"/>
              </a:rPr>
              <a:t> </a:t>
            </a:r>
            <a:r>
              <a:rPr sz="1800" spc="-10" dirty="0">
                <a:latin typeface="Calibri Light"/>
                <a:cs typeface="Calibri Light"/>
              </a:rPr>
              <a:t>action</a:t>
            </a:r>
            <a:r>
              <a:rPr sz="1800" spc="-60" dirty="0">
                <a:latin typeface="Calibri Light"/>
                <a:cs typeface="Calibri Light"/>
              </a:rPr>
              <a:t> </a:t>
            </a:r>
            <a:r>
              <a:rPr sz="1800" spc="-5" dirty="0">
                <a:latin typeface="Calibri Light"/>
                <a:cs typeface="Calibri Light"/>
              </a:rPr>
              <a:t>plan</a:t>
            </a:r>
            <a:r>
              <a:rPr sz="1800" spc="-65" dirty="0">
                <a:latin typeface="Calibri Light"/>
                <a:cs typeface="Calibri Light"/>
              </a:rPr>
              <a:t> </a:t>
            </a:r>
            <a:r>
              <a:rPr sz="1800" spc="-5" dirty="0">
                <a:latin typeface="Calibri Light"/>
                <a:cs typeface="Calibri Light"/>
              </a:rPr>
              <a:t>on</a:t>
            </a:r>
            <a:r>
              <a:rPr sz="1800" spc="-35" dirty="0">
                <a:latin typeface="Calibri Light"/>
                <a:cs typeface="Calibri Light"/>
              </a:rPr>
              <a:t> </a:t>
            </a:r>
            <a:r>
              <a:rPr sz="1800" spc="-15" dirty="0">
                <a:latin typeface="Calibri Light"/>
                <a:cs typeface="Calibri Light"/>
              </a:rPr>
              <a:t>Qualtrics</a:t>
            </a:r>
            <a:endParaRPr sz="18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81555" y="824674"/>
            <a:ext cx="7725409" cy="2438400"/>
            <a:chOff x="1781555" y="824674"/>
            <a:chExt cx="7725409" cy="2438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81555" y="1110942"/>
              <a:ext cx="7725156" cy="215194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325361" y="838961"/>
              <a:ext cx="962025" cy="951230"/>
            </a:xfrm>
            <a:custGeom>
              <a:avLst/>
              <a:gdLst/>
              <a:ahLst/>
              <a:cxnLst/>
              <a:rect l="l" t="t" r="r" b="b"/>
              <a:pathLst>
                <a:path w="962025" h="951230">
                  <a:moveTo>
                    <a:pt x="0" y="950976"/>
                  </a:moveTo>
                  <a:lnTo>
                    <a:pt x="961643" y="950976"/>
                  </a:lnTo>
                  <a:lnTo>
                    <a:pt x="961643" y="0"/>
                  </a:lnTo>
                  <a:lnTo>
                    <a:pt x="0" y="0"/>
                  </a:lnTo>
                  <a:lnTo>
                    <a:pt x="0" y="950976"/>
                  </a:lnTo>
                  <a:close/>
                </a:path>
              </a:pathLst>
            </a:custGeom>
            <a:ln w="2857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077211" y="4233670"/>
            <a:ext cx="7429500" cy="2270760"/>
            <a:chOff x="2077211" y="4233670"/>
            <a:chExt cx="7429500" cy="227076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7211" y="4233670"/>
              <a:ext cx="7429500" cy="227045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154161" y="4315205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914400"/>
                  </a:moveTo>
                  <a:lnTo>
                    <a:pt x="914400" y="9144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857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5">
            <a:extLst>
              <a:ext uri="{FF2B5EF4-FFF2-40B4-BE49-F238E27FC236}">
                <a16:creationId xmlns:a16="http://schemas.microsoft.com/office/drawing/2014/main" id="{85DDFD52-4EC2-F3CD-8523-D2BD229EBAA6}"/>
              </a:ext>
            </a:extLst>
          </p:cNvPr>
          <p:cNvSpPr/>
          <p:nvPr/>
        </p:nvSpPr>
        <p:spPr>
          <a:xfrm>
            <a:off x="1723264" y="1676400"/>
            <a:ext cx="962025" cy="951230"/>
          </a:xfrm>
          <a:custGeom>
            <a:avLst/>
            <a:gdLst/>
            <a:ahLst/>
            <a:cxnLst/>
            <a:rect l="l" t="t" r="r" b="b"/>
            <a:pathLst>
              <a:path w="962025" h="951230">
                <a:moveTo>
                  <a:pt x="0" y="950976"/>
                </a:moveTo>
                <a:lnTo>
                  <a:pt x="961643" y="950976"/>
                </a:lnTo>
                <a:lnTo>
                  <a:pt x="961643" y="0"/>
                </a:lnTo>
                <a:lnTo>
                  <a:pt x="0" y="0"/>
                </a:lnTo>
                <a:lnTo>
                  <a:pt x="0" y="950976"/>
                </a:lnTo>
                <a:close/>
              </a:path>
            </a:pathLst>
          </a:custGeom>
          <a:ln w="28575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345" y="1158494"/>
            <a:ext cx="11802110" cy="4298950"/>
            <a:chOff x="85345" y="1158494"/>
            <a:chExt cx="11802110" cy="42989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5" y="1158494"/>
              <a:ext cx="11801854" cy="429895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87318" y="2972561"/>
              <a:ext cx="2152015" cy="1325880"/>
            </a:xfrm>
            <a:custGeom>
              <a:avLst/>
              <a:gdLst/>
              <a:ahLst/>
              <a:cxnLst/>
              <a:rect l="l" t="t" r="r" b="b"/>
              <a:pathLst>
                <a:path w="2152015" h="1325879">
                  <a:moveTo>
                    <a:pt x="0" y="1325880"/>
                  </a:moveTo>
                  <a:lnTo>
                    <a:pt x="2151888" y="1325880"/>
                  </a:lnTo>
                  <a:lnTo>
                    <a:pt x="2151888" y="0"/>
                  </a:lnTo>
                  <a:lnTo>
                    <a:pt x="0" y="0"/>
                  </a:lnTo>
                  <a:lnTo>
                    <a:pt x="0" y="1325880"/>
                  </a:lnTo>
                  <a:close/>
                </a:path>
              </a:pathLst>
            </a:custGeom>
            <a:ln w="2857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00911"/>
            <a:ext cx="12192000" cy="5466715"/>
            <a:chOff x="0" y="1200911"/>
            <a:chExt cx="12192000" cy="5466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00911"/>
              <a:ext cx="12191999" cy="54665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734562" y="3265169"/>
              <a:ext cx="1762125" cy="1069975"/>
            </a:xfrm>
            <a:custGeom>
              <a:avLst/>
              <a:gdLst/>
              <a:ahLst/>
              <a:cxnLst/>
              <a:rect l="l" t="t" r="r" b="b"/>
              <a:pathLst>
                <a:path w="1762125" h="1069975">
                  <a:moveTo>
                    <a:pt x="0" y="1069847"/>
                  </a:moveTo>
                  <a:lnTo>
                    <a:pt x="1761743" y="1069847"/>
                  </a:lnTo>
                  <a:lnTo>
                    <a:pt x="1761743" y="0"/>
                  </a:lnTo>
                  <a:lnTo>
                    <a:pt x="0" y="0"/>
                  </a:lnTo>
                  <a:lnTo>
                    <a:pt x="0" y="1069847"/>
                  </a:lnTo>
                  <a:close/>
                </a:path>
              </a:pathLst>
            </a:custGeom>
            <a:ln w="2857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9644" y="1266515"/>
            <a:ext cx="11992610" cy="4087495"/>
            <a:chOff x="199644" y="1266515"/>
            <a:chExt cx="11992610" cy="40874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9644" y="1266515"/>
              <a:ext cx="11992356" cy="408686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781805" y="350138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914400"/>
                  </a:moveTo>
                  <a:lnTo>
                    <a:pt x="914400" y="9144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857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1476</TotalTime>
  <Words>2088</Words>
  <Application>Microsoft Office PowerPoint</Application>
  <PresentationFormat>Widescreen</PresentationFormat>
  <Paragraphs>195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Arial MT</vt:lpstr>
      <vt:lpstr>Calibri</vt:lpstr>
      <vt:lpstr>Calibri Light</vt:lpstr>
      <vt:lpstr>Times New Roman</vt:lpstr>
      <vt:lpstr>Wingdings</vt:lpstr>
      <vt:lpstr>Office Theme</vt:lpstr>
      <vt:lpstr>PowerPoint Presentation</vt:lpstr>
      <vt:lpstr>EMPLOYEE ENGAGEMENT ACTION PLANNING TOOLKIT  PROCESS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SELF REFLECTION</vt:lpstr>
      <vt:lpstr>PowerPoint Presentation</vt:lpstr>
      <vt:lpstr>PowerPoint Presentation</vt:lpstr>
      <vt:lpstr>SHARING CURRENT RESULTS- HOW TO HAVE AN EFFECTIVE CONVERSATION?</vt:lpstr>
      <vt:lpstr>Engagement Results Deep Dive- How to have an effective conversation?</vt:lpstr>
      <vt:lpstr>PowerPoint Presentation</vt:lpstr>
      <vt:lpstr>Step 4:Document your actions on Qualtrics and keep track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GROWING TOGETHER</dc:title>
  <dc:creator>Tripti Pathak</dc:creator>
  <cp:lastModifiedBy>Fatma Alsagaf</cp:lastModifiedBy>
  <cp:revision>3</cp:revision>
  <dcterms:created xsi:type="dcterms:W3CDTF">2023-01-31T07:29:39Z</dcterms:created>
  <dcterms:modified xsi:type="dcterms:W3CDTF">2023-02-28T05:17:44Z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2023-01-17T00:00:00Z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2023-01-31T00:00:00Z</vt:filetime>
  </property>
</Properties>
</file>